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315" r:id="rId4"/>
    <p:sldId id="258" r:id="rId5"/>
    <p:sldId id="307" r:id="rId6"/>
    <p:sldId id="261" r:id="rId7"/>
    <p:sldId id="306" r:id="rId8"/>
    <p:sldId id="317" r:id="rId9"/>
    <p:sldId id="318" r:id="rId10"/>
    <p:sldId id="262" r:id="rId11"/>
    <p:sldId id="263" r:id="rId12"/>
    <p:sldId id="265" r:id="rId13"/>
    <p:sldId id="277" r:id="rId14"/>
    <p:sldId id="269" r:id="rId15"/>
    <p:sldId id="270" r:id="rId16"/>
    <p:sldId id="316" r:id="rId17"/>
    <p:sldId id="305"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hk0NQVwsWPmp+kLoxKtlHFsxpt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7FDF49-1739-447F-8F30-F95F52A318F0}">
  <a:tblStyle styleId="{897FDF49-1739-447F-8F30-F95F52A318F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96" autoAdjust="0"/>
  </p:normalViewPr>
  <p:slideViewPr>
    <p:cSldViewPr>
      <p:cViewPr varScale="1">
        <p:scale>
          <a:sx n="80" d="100"/>
          <a:sy n="80" d="100"/>
        </p:scale>
        <p:origin x="47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5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727163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 name="Google Shape;1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 name="Google Shape;1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 name="Google Shape;2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4d6361a527_5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4d6361a527_5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 name="Google Shape;34;g34d6361a527_5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B3D9A86-FC27-1829-064B-7794E9D8BF64}"/>
            </a:ext>
          </a:extLst>
        </p:cNvPr>
        <p:cNvGrpSpPr/>
        <p:nvPr/>
      </p:nvGrpSpPr>
      <p:grpSpPr>
        <a:xfrm>
          <a:off x="0" y="0"/>
          <a:ext cx="0" cy="0"/>
          <a:chOff x="0" y="0"/>
          <a:chExt cx="0" cy="0"/>
        </a:xfrm>
      </p:grpSpPr>
      <p:sp>
        <p:nvSpPr>
          <p:cNvPr id="32" name="Google Shape;32;g34d6361a527_5_0:notes">
            <a:extLst>
              <a:ext uri="{FF2B5EF4-FFF2-40B4-BE49-F238E27FC236}">
                <a16:creationId xmlns:a16="http://schemas.microsoft.com/office/drawing/2014/main" id="{667B6993-0D63-BB87-5B90-EF59B50E4A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4d6361a527_5_0:notes">
            <a:extLst>
              <a:ext uri="{FF2B5EF4-FFF2-40B4-BE49-F238E27FC236}">
                <a16:creationId xmlns:a16="http://schemas.microsoft.com/office/drawing/2014/main" id="{2F1B673C-4EB0-A9C5-8BED-4418FB544B6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 name="Google Shape;34;g34d6361a527_5_0:notes">
            <a:extLst>
              <a:ext uri="{FF2B5EF4-FFF2-40B4-BE49-F238E27FC236}">
                <a16:creationId xmlns:a16="http://schemas.microsoft.com/office/drawing/2014/main" id="{142ABED3-9AE1-31CC-4CED-8F9B672F980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extLst>
      <p:ext uri="{BB962C8B-B14F-4D97-AF65-F5344CB8AC3E}">
        <p14:creationId xmlns:p14="http://schemas.microsoft.com/office/powerpoint/2010/main" val="4276775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4d6361a527_5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g34d6361a527_5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sz="1400">
              <a:latin typeface="Calibri"/>
              <a:ea typeface="Calibri"/>
              <a:cs typeface="Calibri"/>
              <a:sym typeface="Calibri"/>
            </a:endParaRPr>
          </a:p>
        </p:txBody>
      </p:sp>
      <p:sp>
        <p:nvSpPr>
          <p:cNvPr id="73" name="Google Shape;73;g34d6361a527_5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DE29CA1-EA86-BE14-0D31-C6688578C931}"/>
            </a:ext>
          </a:extLst>
        </p:cNvPr>
        <p:cNvGrpSpPr/>
        <p:nvPr/>
      </p:nvGrpSpPr>
      <p:grpSpPr>
        <a:xfrm>
          <a:off x="0" y="0"/>
          <a:ext cx="0" cy="0"/>
          <a:chOff x="0" y="0"/>
          <a:chExt cx="0" cy="0"/>
        </a:xfrm>
      </p:grpSpPr>
      <p:sp>
        <p:nvSpPr>
          <p:cNvPr id="32" name="Google Shape;32;g34d6361a527_5_0:notes">
            <a:extLst>
              <a:ext uri="{FF2B5EF4-FFF2-40B4-BE49-F238E27FC236}">
                <a16:creationId xmlns:a16="http://schemas.microsoft.com/office/drawing/2014/main" id="{FA7836E0-FE42-ABB4-9466-AFA4E53127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4d6361a527_5_0:notes">
            <a:extLst>
              <a:ext uri="{FF2B5EF4-FFF2-40B4-BE49-F238E27FC236}">
                <a16:creationId xmlns:a16="http://schemas.microsoft.com/office/drawing/2014/main" id="{180693A4-C094-C925-6643-0C386F10CA4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 name="Google Shape;34;g34d6361a527_5_0:notes">
            <a:extLst>
              <a:ext uri="{FF2B5EF4-FFF2-40B4-BE49-F238E27FC236}">
                <a16:creationId xmlns:a16="http://schemas.microsoft.com/office/drawing/2014/main" id="{8DBD1156-2FB8-7004-8DEA-81F66FDFC34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3756259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4d6361a527_5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g34d6361a527_5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sz="1400">
              <a:latin typeface="Calibri"/>
              <a:ea typeface="Calibri"/>
              <a:cs typeface="Calibri"/>
              <a:sym typeface="Calibri"/>
            </a:endParaRPr>
          </a:p>
        </p:txBody>
      </p:sp>
      <p:sp>
        <p:nvSpPr>
          <p:cNvPr id="83" name="Google Shape;83;g34d6361a527_5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5432f09e69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35432f09e69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00"/>
              </a:spcBef>
              <a:spcAft>
                <a:spcPts val="0"/>
              </a:spcAft>
              <a:buSzPts val="1400"/>
              <a:buNone/>
            </a:pPr>
            <a:endParaRPr/>
          </a:p>
        </p:txBody>
      </p:sp>
      <p:sp>
        <p:nvSpPr>
          <p:cNvPr id="112" name="Google Shape;112;g35432f09e69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4d6361a527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34d6361a527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00"/>
              </a:spcBef>
              <a:spcAft>
                <a:spcPts val="0"/>
              </a:spcAft>
              <a:buSzPts val="1400"/>
              <a:buNone/>
            </a:pPr>
            <a:r>
              <a:rPr lang="en-US"/>
              <a:t>38 bảng</a:t>
            </a:r>
            <a:endParaRPr/>
          </a:p>
        </p:txBody>
      </p:sp>
      <p:sp>
        <p:nvSpPr>
          <p:cNvPr id="236" name="Google Shape;236;g34d6361a527_0_1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400"/>
              <a:buFont typeface="Calibri"/>
              <a:buNone/>
            </a:pPr>
            <a:r>
              <a:rPr lang="en-US" sz="1400">
                <a:latin typeface="Calibri"/>
                <a:ea typeface="Calibri"/>
                <a:cs typeface="Calibri"/>
                <a:sym typeface="Calibri"/>
              </a:rPr>
              <a:t>75 chức năng chia ra làm 10 nhóm chức năng</a:t>
            </a:r>
            <a:endParaRPr sz="1400">
              <a:latin typeface="Calibri"/>
              <a:ea typeface="Calibri"/>
              <a:cs typeface="Calibri"/>
              <a:sym typeface="Calibri"/>
            </a:endParaRPr>
          </a:p>
        </p:txBody>
      </p:sp>
      <p:sp>
        <p:nvSpPr>
          <p:cNvPr id="152" name="Google Shape;152;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4d6361a527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34d6361a527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400"/>
              <a:buFont typeface="Calibri"/>
              <a:buNone/>
            </a:pPr>
            <a:r>
              <a:rPr lang="en-US" sz="1400">
                <a:latin typeface="Calibri"/>
                <a:ea typeface="Calibri"/>
                <a:cs typeface="Calibri"/>
                <a:sym typeface="Calibri"/>
              </a:rPr>
              <a:t>75 chức năng chia ra làm 10 nhóm chức năng</a:t>
            </a:r>
            <a:endParaRPr sz="1400">
              <a:latin typeface="Calibri"/>
              <a:ea typeface="Calibri"/>
              <a:cs typeface="Calibri"/>
              <a:sym typeface="Calibri"/>
            </a:endParaRPr>
          </a:p>
        </p:txBody>
      </p:sp>
      <p:sp>
        <p:nvSpPr>
          <p:cNvPr id="164" name="Google Shape;164;g34d6361a527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5" name="Google Shape;56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29"/>
          <p:cNvSpPr txBox="1">
            <a:spLocks noGrp="1"/>
          </p:cNvSpPr>
          <p:nvPr>
            <p:ph type="sldNum" idx="12"/>
          </p:nvPr>
        </p:nvSpPr>
        <p:spPr>
          <a:xfrm>
            <a:off x="9353910" y="643830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r>
              <a:rPr lang="en-US"/>
              <a:t>/25</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sldNum" idx="12"/>
          </p:nvPr>
        </p:nvSpPr>
        <p:spPr>
          <a:xfrm>
            <a:off x="9448800" y="643249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r>
              <a:rPr lang="en-US"/>
              <a:t>/24</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
        <p:cNvGrpSpPr/>
        <p:nvPr/>
      </p:nvGrpSpPr>
      <p:grpSpPr>
        <a:xfrm>
          <a:off x="0" y="0"/>
          <a:ext cx="0" cy="0"/>
          <a:chOff x="0" y="0"/>
          <a:chExt cx="0" cy="0"/>
        </a:xfrm>
      </p:grpSpPr>
      <p:sp>
        <p:nvSpPr>
          <p:cNvPr id="18" name="Google Shape;18;p1"/>
          <p:cNvSpPr txBox="1"/>
          <p:nvPr/>
        </p:nvSpPr>
        <p:spPr>
          <a:xfrm>
            <a:off x="990600" y="1676400"/>
            <a:ext cx="10467300" cy="1846619"/>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800"/>
              <a:buFont typeface="Arial"/>
              <a:buNone/>
            </a:pPr>
            <a:r>
              <a:rPr lang="en-US" sz="2800" b="1" i="0" u="none" strike="noStrike" cap="none">
                <a:solidFill>
                  <a:srgbClr val="0070C0"/>
                </a:solidFill>
                <a:latin typeface="Arial"/>
                <a:ea typeface="Arial"/>
                <a:cs typeface="Arial"/>
                <a:sym typeface="Arial"/>
              </a:rPr>
              <a:t>BÁO CÁO TIẾN ĐỘ KHÓA LUẬN TỐT NGHIỆP</a:t>
            </a:r>
            <a:endParaRPr sz="2800" b="1" i="0" u="none" strike="noStrike" cap="none">
              <a:solidFill>
                <a:srgbClr val="0070C0"/>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2400"/>
              <a:buFont typeface="Arial"/>
              <a:buNone/>
            </a:pPr>
            <a:r>
              <a:rPr lang="en-US" sz="2400" b="1" i="0" u="none" strike="noStrike" cap="none">
                <a:solidFill>
                  <a:srgbClr val="0070C0"/>
                </a:solidFill>
                <a:latin typeface="Arial"/>
                <a:ea typeface="Arial"/>
                <a:cs typeface="Arial"/>
                <a:sym typeface="Arial"/>
              </a:rPr>
              <a:t>ĐỀ TÀI: XÂY DỰNG </a:t>
            </a:r>
            <a:r>
              <a:rPr lang="en-US" sz="2400" b="1">
                <a:solidFill>
                  <a:srgbClr val="0070C0"/>
                </a:solidFill>
              </a:rPr>
              <a:t>WEBSITE QUẢN LÝ DỰ ÁN CHO DOANH NGHIỆP RIKAITECH</a:t>
            </a:r>
            <a:endParaRPr sz="2400" b="1" i="0" u="none" strike="noStrike" cap="none">
              <a:solidFill>
                <a:srgbClr val="0070C0"/>
              </a:solidFill>
              <a:latin typeface="Arial"/>
              <a:ea typeface="Arial"/>
              <a:cs typeface="Arial"/>
              <a:sym typeface="Arial"/>
            </a:endParaRPr>
          </a:p>
        </p:txBody>
      </p:sp>
      <p:sp>
        <p:nvSpPr>
          <p:cNvPr id="19" name="Google Shape;19;p1"/>
          <p:cNvSpPr txBox="1"/>
          <p:nvPr/>
        </p:nvSpPr>
        <p:spPr>
          <a:xfrm>
            <a:off x="2992941" y="3766115"/>
            <a:ext cx="6206100" cy="12556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70C0"/>
                </a:solidFill>
                <a:latin typeface="Arial"/>
                <a:ea typeface="Arial"/>
                <a:cs typeface="Arial"/>
                <a:sym typeface="Arial"/>
              </a:rPr>
              <a:t>GVHD: T</a:t>
            </a:r>
            <a:r>
              <a:rPr lang="en-US" sz="2400" b="1">
                <a:solidFill>
                  <a:srgbClr val="0070C0"/>
                </a:solidFill>
              </a:rPr>
              <a:t>hs</a:t>
            </a:r>
            <a:r>
              <a:rPr lang="en-US" sz="2400" b="1" i="0" u="none" strike="noStrike" cap="none">
                <a:solidFill>
                  <a:srgbClr val="0070C0"/>
                </a:solidFill>
                <a:latin typeface="Arial"/>
                <a:ea typeface="Arial"/>
                <a:cs typeface="Arial"/>
                <a:sym typeface="Arial"/>
              </a:rPr>
              <a:t>. </a:t>
            </a:r>
            <a:r>
              <a:rPr lang="en-US" sz="2400" b="1">
                <a:solidFill>
                  <a:srgbClr val="0070C0"/>
                </a:solidFill>
              </a:rPr>
              <a:t>Trương Hữu Thành</a:t>
            </a:r>
            <a:endParaRPr sz="2400" b="1" i="0" u="none" strike="noStrike" cap="none">
              <a:solidFill>
                <a:srgbClr val="0070C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0070C0"/>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2400"/>
              <a:buFont typeface="Arial"/>
              <a:buNone/>
            </a:pPr>
            <a:r>
              <a:rPr lang="en-US" sz="2400" b="1" i="0" u="none" strike="noStrike" cap="none">
                <a:solidFill>
                  <a:srgbClr val="0070C0"/>
                </a:solidFill>
                <a:latin typeface="Arial"/>
                <a:ea typeface="Arial"/>
                <a:cs typeface="Arial"/>
                <a:sym typeface="Arial"/>
              </a:rPr>
              <a:t>Sinh viên thực hiện: Nguyễn Đức Hưng</a:t>
            </a:r>
            <a:endParaRPr sz="2400" b="1">
              <a:solidFill>
                <a:srgbClr val="0070C0"/>
              </a:solidFill>
            </a:endParaRPr>
          </a:p>
        </p:txBody>
      </p:sp>
      <p:sp>
        <p:nvSpPr>
          <p:cNvPr id="20" name="Google Shape;20;p1"/>
          <p:cNvSpPr txBox="1">
            <a:spLocks noGrp="1"/>
          </p:cNvSpPr>
          <p:nvPr>
            <p:ph type="sldNum" idx="12"/>
          </p:nvPr>
        </p:nvSpPr>
        <p:spPr>
          <a:xfrm>
            <a:off x="9353910" y="6438301"/>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1</a:t>
            </a:fld>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4"/>
          <p:cNvPicPr preferRelativeResize="0"/>
          <p:nvPr/>
        </p:nvPicPr>
        <p:blipFill rotWithShape="1">
          <a:blip r:embed="rId3">
            <a:alphaModFix/>
          </a:blip>
          <a:srcRect/>
          <a:stretch/>
        </p:blipFill>
        <p:spPr>
          <a:xfrm>
            <a:off x="10983558" y="158451"/>
            <a:ext cx="1016148" cy="638141"/>
          </a:xfrm>
          <a:prstGeom prst="rect">
            <a:avLst/>
          </a:prstGeom>
          <a:noFill/>
          <a:ln>
            <a:noFill/>
          </a:ln>
        </p:spPr>
      </p:pic>
      <p:cxnSp>
        <p:nvCxnSpPr>
          <p:cNvPr id="27" name="Google Shape;27;p4"/>
          <p:cNvCxnSpPr/>
          <p:nvPr/>
        </p:nvCxnSpPr>
        <p:spPr>
          <a:xfrm>
            <a:off x="0" y="839624"/>
            <a:ext cx="10800678" cy="0"/>
          </a:xfrm>
          <a:prstGeom prst="straightConnector1">
            <a:avLst/>
          </a:prstGeom>
          <a:noFill/>
          <a:ln w="28575" cap="flat" cmpd="sng">
            <a:solidFill>
              <a:schemeClr val="accent1"/>
            </a:solidFill>
            <a:prstDash val="solid"/>
            <a:miter lim="800000"/>
            <a:headEnd type="none" w="sm" len="sm"/>
            <a:tailEnd type="none" w="sm" len="sm"/>
          </a:ln>
        </p:spPr>
      </p:cxnSp>
      <p:sp>
        <p:nvSpPr>
          <p:cNvPr id="28" name="Google Shape;28;p4"/>
          <p:cNvSpPr txBox="1"/>
          <p:nvPr/>
        </p:nvSpPr>
        <p:spPr>
          <a:xfrm>
            <a:off x="765315" y="211063"/>
            <a:ext cx="91269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2800"/>
              <a:buFont typeface="Arial"/>
              <a:buNone/>
            </a:pPr>
            <a:r>
              <a:rPr lang="en-US" sz="2800" b="1">
                <a:solidFill>
                  <a:srgbClr val="0070C0"/>
                </a:solidFill>
              </a:rPr>
              <a:t>NỘI DUNG BÁO CÁO</a:t>
            </a:r>
            <a:endParaRPr sz="2400" b="0" i="0" u="none" strike="noStrike" cap="none">
              <a:solidFill>
                <a:schemeClr val="dk1"/>
              </a:solidFill>
              <a:latin typeface="Arial"/>
              <a:ea typeface="Arial"/>
              <a:cs typeface="Arial"/>
              <a:sym typeface="Arial"/>
            </a:endParaRPr>
          </a:p>
        </p:txBody>
      </p:sp>
      <p:sp>
        <p:nvSpPr>
          <p:cNvPr id="29" name="Google Shape;29;p4"/>
          <p:cNvSpPr txBox="1">
            <a:spLocks noGrp="1"/>
          </p:cNvSpPr>
          <p:nvPr>
            <p:ph type="sldNum" idx="12"/>
          </p:nvPr>
        </p:nvSpPr>
        <p:spPr>
          <a:xfrm>
            <a:off x="9353910" y="6438301"/>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2</a:t>
            </a:fld>
            <a:endParaRPr>
              <a:solidFill>
                <a:schemeClr val="lt1"/>
              </a:solidFill>
            </a:endParaRPr>
          </a:p>
        </p:txBody>
      </p:sp>
      <p:sp>
        <p:nvSpPr>
          <p:cNvPr id="30" name="Google Shape;30;p4"/>
          <p:cNvSpPr txBox="1"/>
          <p:nvPr/>
        </p:nvSpPr>
        <p:spPr>
          <a:xfrm>
            <a:off x="765324" y="1006525"/>
            <a:ext cx="7388075" cy="5165675"/>
          </a:xfrm>
          <a:prstGeom prst="rect">
            <a:avLst/>
          </a:prstGeom>
          <a:noFill/>
          <a:ln>
            <a:noFill/>
          </a:ln>
        </p:spPr>
        <p:txBody>
          <a:bodyPr spcFirstLastPara="1" wrap="square" lIns="91425" tIns="91425" rIns="91425" bIns="91425" anchor="t" anchorCtr="0">
            <a:noAutofit/>
          </a:bodyPr>
          <a:lstStyle/>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Giới thiệu đề tài</a:t>
            </a:r>
            <a:endParaRPr sz="2200" b="1" i="0" u="none" strike="noStrike" cap="none" dirty="0">
              <a:solidFill>
                <a:schemeClr val="dk2"/>
              </a:solidFill>
              <a:latin typeface="Arial"/>
              <a:ea typeface="Arial"/>
              <a:cs typeface="Arial"/>
              <a:sym typeface="Arial"/>
            </a:endParaRPr>
          </a:p>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Mục tiêu đề tài</a:t>
            </a:r>
            <a:endParaRPr lang="en-US" sz="2200" b="1" dirty="0">
              <a:solidFill>
                <a:schemeClr val="dk2"/>
              </a:solidFill>
            </a:endParaRPr>
          </a:p>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Phạm vi đề tài và kế hoạch </a:t>
            </a:r>
            <a:r>
              <a:rPr lang="en-US" sz="2200" b="1" err="1">
                <a:solidFill>
                  <a:schemeClr val="dk2"/>
                </a:solidFill>
              </a:rPr>
              <a:t>thực</a:t>
            </a:r>
            <a:r>
              <a:rPr lang="en-US" sz="2200" b="1">
                <a:solidFill>
                  <a:schemeClr val="dk2"/>
                </a:solidFill>
              </a:rPr>
              <a:t> hiện</a:t>
            </a:r>
            <a:endParaRPr lang="en-US" sz="2200" b="1" dirty="0">
              <a:solidFill>
                <a:schemeClr val="dk2"/>
              </a:solidFill>
            </a:endParaRPr>
          </a:p>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Công nghệ sử dụng</a:t>
            </a:r>
          </a:p>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Phân tích nghiệp vụ và yêu cầu chức năng</a:t>
            </a:r>
          </a:p>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Sơ đồ phân rã chức năng (BFD)</a:t>
            </a:r>
          </a:p>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Sơ đồ luồng dữ liệu (DFD) mức ngữ cảnh</a:t>
            </a:r>
          </a:p>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Sơ đồ luồng dữ liệu (DFD) mức đỉnh</a:t>
            </a:r>
          </a:p>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Sơ đồ luồng dữ liệu (DFD) mức dưới đỉnh</a:t>
            </a:r>
          </a:p>
          <a:p>
            <a:pPr marL="631825" marR="0" lvl="0" indent="-542925" algn="l" rtl="0">
              <a:lnSpc>
                <a:spcPct val="150000"/>
              </a:lnSpc>
              <a:spcBef>
                <a:spcPts val="0"/>
              </a:spcBef>
              <a:spcAft>
                <a:spcPts val="0"/>
              </a:spcAft>
              <a:buClr>
                <a:schemeClr val="dk2"/>
              </a:buClr>
              <a:buSzPts val="2200"/>
              <a:buAutoNum type="arabicPeriod"/>
            </a:pPr>
            <a:r>
              <a:rPr lang="en-US" sz="2200" b="1">
                <a:solidFill>
                  <a:schemeClr val="dk2"/>
                </a:solidFill>
              </a:rPr>
              <a:t>Sơ đồ ERD</a:t>
            </a:r>
            <a:endParaRPr sz="2200" b="1" dirty="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084C68-A33F-9EBF-C66D-CE6D7940D93D}"/>
              </a:ext>
            </a:extLst>
          </p:cNvPr>
          <p:cNvSpPr>
            <a:spLocks noGrp="1"/>
          </p:cNvSpPr>
          <p:nvPr>
            <p:ph type="sldNum" idx="12"/>
          </p:nvPr>
        </p:nvSpPr>
        <p:spPr/>
        <p:txBody>
          <a:bodyPr/>
          <a:lstStyle/>
          <a:p>
            <a:pPr marL="0" lvl="0" indent="0" algn="r" rtl="0">
              <a:spcBef>
                <a:spcPts val="0"/>
              </a:spcBef>
              <a:spcAft>
                <a:spcPts val="0"/>
              </a:spcAft>
              <a:buNone/>
            </a:pPr>
            <a:r>
              <a:rPr lang="en-US">
                <a:solidFill>
                  <a:schemeClr val="bg1"/>
                </a:solidFill>
              </a:rPr>
              <a:t>3</a:t>
            </a:r>
          </a:p>
        </p:txBody>
      </p:sp>
      <p:pic>
        <p:nvPicPr>
          <p:cNvPr id="3" name="Google Shape;26;p4">
            <a:extLst>
              <a:ext uri="{FF2B5EF4-FFF2-40B4-BE49-F238E27FC236}">
                <a16:creationId xmlns:a16="http://schemas.microsoft.com/office/drawing/2014/main" id="{5EB977B3-2645-F694-A2B6-21A82238FB4C}"/>
              </a:ext>
            </a:extLst>
          </p:cNvPr>
          <p:cNvPicPr preferRelativeResize="0"/>
          <p:nvPr/>
        </p:nvPicPr>
        <p:blipFill rotWithShape="1">
          <a:blip r:embed="rId2">
            <a:alphaModFix/>
          </a:blip>
          <a:srcRect/>
          <a:stretch/>
        </p:blipFill>
        <p:spPr>
          <a:xfrm>
            <a:off x="10983558" y="158451"/>
            <a:ext cx="1016148" cy="638141"/>
          </a:xfrm>
          <a:prstGeom prst="rect">
            <a:avLst/>
          </a:prstGeom>
          <a:noFill/>
          <a:ln>
            <a:noFill/>
          </a:ln>
        </p:spPr>
      </p:pic>
      <p:cxnSp>
        <p:nvCxnSpPr>
          <p:cNvPr id="4" name="Google Shape;27;p4">
            <a:extLst>
              <a:ext uri="{FF2B5EF4-FFF2-40B4-BE49-F238E27FC236}">
                <a16:creationId xmlns:a16="http://schemas.microsoft.com/office/drawing/2014/main" id="{B1653D67-77E5-B654-DDEC-6B13ABA9F8EE}"/>
              </a:ext>
            </a:extLst>
          </p:cNvPr>
          <p:cNvCxnSpPr/>
          <p:nvPr/>
        </p:nvCxnSpPr>
        <p:spPr>
          <a:xfrm>
            <a:off x="0" y="839624"/>
            <a:ext cx="10800678" cy="0"/>
          </a:xfrm>
          <a:prstGeom prst="straightConnector1">
            <a:avLst/>
          </a:prstGeom>
          <a:noFill/>
          <a:ln w="28575" cap="flat" cmpd="sng">
            <a:solidFill>
              <a:schemeClr val="accent1"/>
            </a:solidFill>
            <a:prstDash val="solid"/>
            <a:miter lim="800000"/>
            <a:headEnd type="none" w="sm" len="sm"/>
            <a:tailEnd type="none" w="sm" len="sm"/>
          </a:ln>
        </p:spPr>
      </p:cxnSp>
      <p:sp>
        <p:nvSpPr>
          <p:cNvPr id="5" name="TextBox 4">
            <a:extLst>
              <a:ext uri="{FF2B5EF4-FFF2-40B4-BE49-F238E27FC236}">
                <a16:creationId xmlns:a16="http://schemas.microsoft.com/office/drawing/2014/main" id="{3E42C9BA-8CE7-DF71-2B56-1EEBFDFEDCCF}"/>
              </a:ext>
            </a:extLst>
          </p:cNvPr>
          <p:cNvSpPr txBox="1"/>
          <p:nvPr/>
        </p:nvSpPr>
        <p:spPr>
          <a:xfrm>
            <a:off x="457200" y="105115"/>
            <a:ext cx="3752950" cy="584775"/>
          </a:xfrm>
          <a:prstGeom prst="rect">
            <a:avLst/>
          </a:prstGeom>
          <a:noFill/>
        </p:spPr>
        <p:txBody>
          <a:bodyPr wrap="none" rtlCol="0">
            <a:spAutoFit/>
          </a:bodyPr>
          <a:lstStyle/>
          <a:p>
            <a:r>
              <a:rPr lang="en-US" sz="3200" b="1">
                <a:solidFill>
                  <a:srgbClr val="0070C0"/>
                </a:solidFill>
              </a:rPr>
              <a:t>1. Giới thiệu đề tài</a:t>
            </a:r>
            <a:endParaRPr lang="vi-VN" sz="3200" b="1">
              <a:solidFill>
                <a:srgbClr val="0070C0"/>
              </a:solidFill>
            </a:endParaRPr>
          </a:p>
        </p:txBody>
      </p:sp>
      <p:sp>
        <p:nvSpPr>
          <p:cNvPr id="6" name="TextBox 5">
            <a:extLst>
              <a:ext uri="{FF2B5EF4-FFF2-40B4-BE49-F238E27FC236}">
                <a16:creationId xmlns:a16="http://schemas.microsoft.com/office/drawing/2014/main" id="{EE6D429D-E476-E212-1994-F05391F5AE3A}"/>
              </a:ext>
            </a:extLst>
          </p:cNvPr>
          <p:cNvSpPr txBox="1"/>
          <p:nvPr/>
        </p:nvSpPr>
        <p:spPr>
          <a:xfrm>
            <a:off x="838200" y="1107271"/>
            <a:ext cx="9962478" cy="954107"/>
          </a:xfrm>
          <a:prstGeom prst="rect">
            <a:avLst/>
          </a:prstGeom>
          <a:noFill/>
        </p:spPr>
        <p:txBody>
          <a:bodyPr wrap="square" rtlCol="0">
            <a:spAutoFit/>
          </a:bodyPr>
          <a:lstStyle/>
          <a:p>
            <a:r>
              <a:rPr lang="en-US" sz="2800" b="1">
                <a:solidFill>
                  <a:srgbClr val="0070C0"/>
                </a:solidFill>
              </a:rPr>
              <a:t>Đề tài: “Xây dựng website quản lý dự án cho doanh nghiệp RikaiTech”</a:t>
            </a:r>
            <a:endParaRPr lang="vi-VN" sz="2400" b="1">
              <a:solidFill>
                <a:srgbClr val="0070C0"/>
              </a:solidFill>
            </a:endParaRPr>
          </a:p>
        </p:txBody>
      </p:sp>
      <p:sp>
        <p:nvSpPr>
          <p:cNvPr id="7" name="TextBox 6">
            <a:extLst>
              <a:ext uri="{FF2B5EF4-FFF2-40B4-BE49-F238E27FC236}">
                <a16:creationId xmlns:a16="http://schemas.microsoft.com/office/drawing/2014/main" id="{C1B601EB-0A30-9702-8791-808911CA75DA}"/>
              </a:ext>
            </a:extLst>
          </p:cNvPr>
          <p:cNvSpPr txBox="1"/>
          <p:nvPr/>
        </p:nvSpPr>
        <p:spPr>
          <a:xfrm>
            <a:off x="838200" y="2037624"/>
            <a:ext cx="9875861" cy="4462760"/>
          </a:xfrm>
          <a:prstGeom prst="rect">
            <a:avLst/>
          </a:prstGeom>
          <a:noFill/>
        </p:spPr>
        <p:txBody>
          <a:bodyPr wrap="square" rtlCol="0">
            <a:spAutoFit/>
          </a:bodyPr>
          <a:lstStyle/>
          <a:p>
            <a:pPr algn="just">
              <a:lnSpc>
                <a:spcPct val="150000"/>
              </a:lnSpc>
            </a:pPr>
            <a:r>
              <a:rPr lang="vi-VN" sz="2000" b="1"/>
              <a:t>Bối cảnh:</a:t>
            </a:r>
            <a:r>
              <a:rPr lang="vi-VN" sz="2000"/>
              <a:t> Ngành công nghệ thông tin phát triển nhanh, quản lý dự án hiệu quả là then chốt cho RikaiTech.</a:t>
            </a:r>
          </a:p>
          <a:p>
            <a:pPr algn="just">
              <a:lnSpc>
                <a:spcPct val="150000"/>
              </a:lnSpc>
            </a:pPr>
            <a:r>
              <a:rPr lang="vi-VN" sz="2000" b="1"/>
              <a:t>Vấn đề hiện tại:</a:t>
            </a:r>
            <a:endParaRPr lang="vi-VN" sz="2000"/>
          </a:p>
          <a:p>
            <a:pPr marL="342900" indent="-342900" algn="just">
              <a:lnSpc>
                <a:spcPct val="150000"/>
              </a:lnSpc>
              <a:buFont typeface="Arial" panose="020B0604020202020204" pitchFamily="34" charset="0"/>
              <a:buChar char="•"/>
            </a:pPr>
            <a:r>
              <a:rPr lang="vi-VN" sz="1800"/>
              <a:t>Phụ thuộc công cụ thủ công (Google Sheet) gây kém hiệu quả. </a:t>
            </a:r>
          </a:p>
          <a:p>
            <a:pPr marL="342900" indent="-342900" algn="just">
              <a:lnSpc>
                <a:spcPct val="150000"/>
              </a:lnSpc>
              <a:buFont typeface="Arial" panose="020B0604020202020204" pitchFamily="34" charset="0"/>
              <a:buChar char="•"/>
            </a:pPr>
            <a:r>
              <a:rPr lang="vi-VN" sz="1800"/>
              <a:t>64% nhân viên khó theo dõi tiến độ của người khác.</a:t>
            </a:r>
          </a:p>
          <a:p>
            <a:pPr algn="just">
              <a:lnSpc>
                <a:spcPct val="150000"/>
              </a:lnSpc>
            </a:pPr>
            <a:r>
              <a:rPr lang="vi-VN" sz="2000" b="1"/>
              <a:t>Hậu quả:</a:t>
            </a:r>
            <a:r>
              <a:rPr lang="vi-VN" sz="2000"/>
              <a:t> Giảm khả năng giám sát, tiềm ẩn rủi ro về chất lượng và thời gian bàn giao sản phẩm.</a:t>
            </a:r>
            <a:endParaRPr lang="vi-VN" sz="1800"/>
          </a:p>
          <a:p>
            <a:pPr algn="just">
              <a:lnSpc>
                <a:spcPct val="150000"/>
              </a:lnSpc>
            </a:pPr>
            <a:r>
              <a:rPr lang="vi-VN" sz="2000" b="1"/>
              <a:t>Lý do chọn đề tài:</a:t>
            </a:r>
            <a:r>
              <a:rPr lang="vi-VN" sz="2000"/>
              <a:t> Cần giải pháp chuyên biệt để tối ưu hóa quản lý tiến độ, thúc đẩy minh bạch và nâng cao giám sát.</a:t>
            </a:r>
          </a:p>
          <a:p>
            <a:endParaRPr lang="en-US" sz="2000"/>
          </a:p>
        </p:txBody>
      </p:sp>
    </p:spTree>
    <p:extLst>
      <p:ext uri="{BB962C8B-B14F-4D97-AF65-F5344CB8AC3E}">
        <p14:creationId xmlns:p14="http://schemas.microsoft.com/office/powerpoint/2010/main" val="1955865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g34d6361a527_5_0"/>
          <p:cNvPicPr preferRelativeResize="0"/>
          <p:nvPr/>
        </p:nvPicPr>
        <p:blipFill rotWithShape="1">
          <a:blip r:embed="rId3">
            <a:alphaModFix/>
          </a:blip>
          <a:srcRect/>
          <a:stretch/>
        </p:blipFill>
        <p:spPr>
          <a:xfrm>
            <a:off x="10983558" y="158451"/>
            <a:ext cx="1016147" cy="638141"/>
          </a:xfrm>
          <a:prstGeom prst="rect">
            <a:avLst/>
          </a:prstGeom>
          <a:noFill/>
          <a:ln>
            <a:noFill/>
          </a:ln>
        </p:spPr>
      </p:pic>
      <p:cxnSp>
        <p:nvCxnSpPr>
          <p:cNvPr id="37" name="Google Shape;37;g34d6361a527_5_0"/>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38" name="Google Shape;38;g34d6361a527_5_0"/>
          <p:cNvSpPr txBox="1"/>
          <p:nvPr/>
        </p:nvSpPr>
        <p:spPr>
          <a:xfrm>
            <a:off x="765315" y="211063"/>
            <a:ext cx="9126900" cy="461700"/>
          </a:xfrm>
          <a:prstGeom prst="rect">
            <a:avLst/>
          </a:prstGeom>
          <a:noFill/>
          <a:ln>
            <a:noFill/>
          </a:ln>
        </p:spPr>
        <p:txBody>
          <a:bodyPr spcFirstLastPara="1" wrap="square" lIns="91425" tIns="45700" rIns="91425" bIns="45700" anchor="t" anchorCtr="0">
            <a:spAutoFit/>
          </a:bodyPr>
          <a:lstStyle/>
          <a:p>
            <a:pPr marL="76200" marR="0" lvl="0" algn="l" rtl="0">
              <a:lnSpc>
                <a:spcPct val="100000"/>
              </a:lnSpc>
              <a:spcBef>
                <a:spcPts val="0"/>
              </a:spcBef>
              <a:spcAft>
                <a:spcPts val="0"/>
              </a:spcAft>
              <a:buClr>
                <a:srgbClr val="0070C0"/>
              </a:buClr>
              <a:buSzPts val="2400"/>
            </a:pPr>
            <a:r>
              <a:rPr lang="en-US" sz="2400" b="1" i="0" u="none" strike="noStrike" cap="none">
                <a:solidFill>
                  <a:srgbClr val="0070C0"/>
                </a:solidFill>
                <a:latin typeface="Arial"/>
                <a:ea typeface="Arial"/>
                <a:cs typeface="Arial"/>
                <a:sym typeface="Arial"/>
              </a:rPr>
              <a:t>2. Mục tiêu của đề tài</a:t>
            </a:r>
            <a:endParaRPr sz="2400" b="0" i="0" u="none" strike="noStrike" cap="none" dirty="0">
              <a:solidFill>
                <a:schemeClr val="dk1"/>
              </a:solidFill>
              <a:latin typeface="Arial"/>
              <a:ea typeface="Arial"/>
              <a:cs typeface="Arial"/>
              <a:sym typeface="Arial"/>
            </a:endParaRPr>
          </a:p>
        </p:txBody>
      </p:sp>
      <p:sp>
        <p:nvSpPr>
          <p:cNvPr id="39" name="Google Shape;39;g34d6361a527_5_0"/>
          <p:cNvSpPr txBox="1">
            <a:spLocks noGrp="1"/>
          </p:cNvSpPr>
          <p:nvPr>
            <p:ph type="sldNum" idx="12"/>
          </p:nvPr>
        </p:nvSpPr>
        <p:spPr>
          <a:xfrm>
            <a:off x="9353910" y="6438301"/>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4</a:t>
            </a:fld>
            <a:endParaRPr>
              <a:solidFill>
                <a:schemeClr val="lt1"/>
              </a:solidFill>
            </a:endParaRPr>
          </a:p>
        </p:txBody>
      </p:sp>
      <p:pic>
        <p:nvPicPr>
          <p:cNvPr id="1026" name="Picture 2" descr="Thương mại điện tử tiếp tục bùng nổ, vượt xa mốc 11,8 tỷ USD năm 2020 -  Nhịp sống kinh tế Việt Nam &amp; Thế giới">
            <a:extLst>
              <a:ext uri="{FF2B5EF4-FFF2-40B4-BE49-F238E27FC236}">
                <a16:creationId xmlns:a16="http://schemas.microsoft.com/office/drawing/2014/main" id="{AAE8C162-E4B8-7609-BAB5-878AC9B05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1790668"/>
            <a:ext cx="4460069" cy="327666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78C512E-BF45-702A-9677-AF2D8279858C}"/>
              </a:ext>
            </a:extLst>
          </p:cNvPr>
          <p:cNvSpPr txBox="1"/>
          <p:nvPr/>
        </p:nvSpPr>
        <p:spPr>
          <a:xfrm>
            <a:off x="533400" y="2028616"/>
            <a:ext cx="6746069" cy="2923877"/>
          </a:xfrm>
          <a:prstGeom prst="rect">
            <a:avLst/>
          </a:prstGeom>
          <a:noFill/>
        </p:spPr>
        <p:txBody>
          <a:bodyPr wrap="square" rtlCol="0">
            <a:spAutoFit/>
          </a:bodyPr>
          <a:lstStyle/>
          <a:p>
            <a:pPr marL="285750" indent="-285750" algn="just">
              <a:buFont typeface="Arial" panose="020B0604020202020204" pitchFamily="34" charset="0"/>
              <a:buChar char="•"/>
            </a:pPr>
            <a:r>
              <a:rPr lang="vi-VN" sz="2000" b="1"/>
              <a:t>Mục tiêu cốt lõi:</a:t>
            </a:r>
            <a:r>
              <a:rPr lang="en-US" sz="2000" b="1"/>
              <a:t> </a:t>
            </a:r>
            <a:r>
              <a:rPr lang="vi-VN" sz="2000"/>
              <a:t>Cung cấp giải pháp công nghệ thông tin toàn diện, tối ưu hóa quy trình quản lý tiến độ công việc và nâng cao chất lượng quản lý dự án tổng thể.</a:t>
            </a:r>
          </a:p>
          <a:p>
            <a:pPr marL="285750" indent="-285750" algn="just">
              <a:buFont typeface="Arial" panose="020B0604020202020204" pitchFamily="34" charset="0"/>
              <a:buChar char="•"/>
            </a:pPr>
            <a:r>
              <a:rPr lang="vi-VN" sz="2000" b="1"/>
              <a:t>Các mục tiêu cụ thể:</a:t>
            </a:r>
            <a:endParaRPr lang="vi-VN" sz="2000"/>
          </a:p>
          <a:p>
            <a:pPr marL="285750" lvl="5" indent="346075" algn="just">
              <a:buFont typeface="Courier New" panose="02070309020205020404" pitchFamily="49" charset="0"/>
              <a:buChar char="o"/>
            </a:pPr>
            <a:r>
              <a:rPr lang="vi-VN" sz="1800"/>
              <a:t>Quản lý tác vụ công việc minh bạch, đảm bảo hoàn thành đúng thời hạn.</a:t>
            </a:r>
          </a:p>
          <a:p>
            <a:pPr marL="285750" lvl="5" indent="346075" algn="just">
              <a:buFont typeface="Courier New" panose="02070309020205020404" pitchFamily="49" charset="0"/>
              <a:buChar char="o"/>
            </a:pPr>
            <a:r>
              <a:rPr lang="vi-VN" sz="1800"/>
              <a:t>Tạo môi trường làm việc tập trung, đồng bộ.</a:t>
            </a:r>
          </a:p>
          <a:p>
            <a:pPr marL="285750" lvl="5" indent="346075" algn="just">
              <a:buFont typeface="Courier New" panose="02070309020205020404" pitchFamily="49" charset="0"/>
              <a:buChar char="o"/>
            </a:pPr>
            <a:r>
              <a:rPr lang="vi-VN" sz="1800"/>
              <a:t>Cung cấp báo cáo thống kê công việc nhằm hỗ trợ ra quyết định chiến lược.</a:t>
            </a:r>
            <a:endParaRPr lang="en-US" sz="1800"/>
          </a:p>
          <a:p>
            <a:pPr marL="285750" indent="-285750">
              <a:buFont typeface="Arial" panose="020B0604020202020204" pitchFamily="34" charset="0"/>
              <a:buChar char="•"/>
            </a:pPr>
            <a:endParaRPr lang="vi-V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35E46B4-F778-2F44-CB29-376602E4A2D7}"/>
            </a:ext>
          </a:extLst>
        </p:cNvPr>
        <p:cNvGrpSpPr/>
        <p:nvPr/>
      </p:nvGrpSpPr>
      <p:grpSpPr>
        <a:xfrm>
          <a:off x="0" y="0"/>
          <a:ext cx="0" cy="0"/>
          <a:chOff x="0" y="0"/>
          <a:chExt cx="0" cy="0"/>
        </a:xfrm>
      </p:grpSpPr>
      <p:pic>
        <p:nvPicPr>
          <p:cNvPr id="36" name="Google Shape;36;g34d6361a527_5_0">
            <a:extLst>
              <a:ext uri="{FF2B5EF4-FFF2-40B4-BE49-F238E27FC236}">
                <a16:creationId xmlns:a16="http://schemas.microsoft.com/office/drawing/2014/main" id="{9BEF49ED-AD34-8E15-9491-41D8FF4B2712}"/>
              </a:ext>
            </a:extLst>
          </p:cNvPr>
          <p:cNvPicPr preferRelativeResize="0"/>
          <p:nvPr/>
        </p:nvPicPr>
        <p:blipFill rotWithShape="1">
          <a:blip r:embed="rId3">
            <a:alphaModFix/>
          </a:blip>
          <a:srcRect/>
          <a:stretch/>
        </p:blipFill>
        <p:spPr>
          <a:xfrm>
            <a:off x="10983558" y="158451"/>
            <a:ext cx="1016147" cy="638141"/>
          </a:xfrm>
          <a:prstGeom prst="rect">
            <a:avLst/>
          </a:prstGeom>
          <a:noFill/>
          <a:ln>
            <a:noFill/>
          </a:ln>
        </p:spPr>
      </p:pic>
      <p:cxnSp>
        <p:nvCxnSpPr>
          <p:cNvPr id="37" name="Google Shape;37;g34d6361a527_5_0">
            <a:extLst>
              <a:ext uri="{FF2B5EF4-FFF2-40B4-BE49-F238E27FC236}">
                <a16:creationId xmlns:a16="http://schemas.microsoft.com/office/drawing/2014/main" id="{CECE06D5-02C9-A327-3983-1984C4F485C4}"/>
              </a:ext>
            </a:extLst>
          </p:cNvPr>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38" name="Google Shape;38;g34d6361a527_5_0">
            <a:extLst>
              <a:ext uri="{FF2B5EF4-FFF2-40B4-BE49-F238E27FC236}">
                <a16:creationId xmlns:a16="http://schemas.microsoft.com/office/drawing/2014/main" id="{700C3A95-A918-192A-2638-D43406CC1B3A}"/>
              </a:ext>
            </a:extLst>
          </p:cNvPr>
          <p:cNvSpPr txBox="1"/>
          <p:nvPr/>
        </p:nvSpPr>
        <p:spPr>
          <a:xfrm>
            <a:off x="765315" y="211063"/>
            <a:ext cx="9126900" cy="461700"/>
          </a:xfrm>
          <a:prstGeom prst="rect">
            <a:avLst/>
          </a:prstGeom>
          <a:noFill/>
          <a:ln>
            <a:noFill/>
          </a:ln>
        </p:spPr>
        <p:txBody>
          <a:bodyPr spcFirstLastPara="1" wrap="square" lIns="91425" tIns="45700" rIns="91425" bIns="45700" anchor="t" anchorCtr="0">
            <a:spAutoFit/>
          </a:bodyPr>
          <a:lstStyle/>
          <a:p>
            <a:pPr marL="76200" marR="0" lvl="0" algn="l" rtl="0">
              <a:lnSpc>
                <a:spcPct val="100000"/>
              </a:lnSpc>
              <a:spcBef>
                <a:spcPts val="0"/>
              </a:spcBef>
              <a:spcAft>
                <a:spcPts val="0"/>
              </a:spcAft>
              <a:buClr>
                <a:srgbClr val="0070C0"/>
              </a:buClr>
              <a:buSzPts val="2400"/>
            </a:pPr>
            <a:r>
              <a:rPr lang="en-US" sz="2400" b="1" i="0" u="none" strike="noStrike" cap="none">
                <a:solidFill>
                  <a:srgbClr val="0070C0"/>
                </a:solidFill>
                <a:latin typeface="Arial"/>
                <a:ea typeface="Arial"/>
                <a:cs typeface="Arial"/>
                <a:sym typeface="Arial"/>
              </a:rPr>
              <a:t>3. Phạm vi đề tài và kế hoạch thực hiện</a:t>
            </a:r>
            <a:endParaRPr sz="2400" b="1" i="0" u="none" strike="noStrike" cap="none" dirty="0">
              <a:solidFill>
                <a:srgbClr val="0070C0"/>
              </a:solidFill>
              <a:latin typeface="Arial"/>
              <a:ea typeface="Arial"/>
              <a:cs typeface="Arial"/>
              <a:sym typeface="Arial"/>
            </a:endParaRPr>
          </a:p>
        </p:txBody>
      </p:sp>
      <p:sp>
        <p:nvSpPr>
          <p:cNvPr id="39" name="Google Shape;39;g34d6361a527_5_0">
            <a:extLst>
              <a:ext uri="{FF2B5EF4-FFF2-40B4-BE49-F238E27FC236}">
                <a16:creationId xmlns:a16="http://schemas.microsoft.com/office/drawing/2014/main" id="{B00A848D-3D43-E73F-4CB9-8CDBB54F1F7A}"/>
              </a:ext>
            </a:extLst>
          </p:cNvPr>
          <p:cNvSpPr txBox="1">
            <a:spLocks noGrp="1"/>
          </p:cNvSpPr>
          <p:nvPr>
            <p:ph type="sldNum" idx="12"/>
          </p:nvPr>
        </p:nvSpPr>
        <p:spPr>
          <a:xfrm>
            <a:off x="9353910" y="6438301"/>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5</a:t>
            </a:fld>
            <a:endParaRPr>
              <a:solidFill>
                <a:schemeClr val="lt1"/>
              </a:solidFill>
            </a:endParaRPr>
          </a:p>
        </p:txBody>
      </p:sp>
      <p:graphicFrame>
        <p:nvGraphicFramePr>
          <p:cNvPr id="2" name="Table 1">
            <a:extLst>
              <a:ext uri="{FF2B5EF4-FFF2-40B4-BE49-F238E27FC236}">
                <a16:creationId xmlns:a16="http://schemas.microsoft.com/office/drawing/2014/main" id="{D0B8095A-04BC-DF34-C3D6-5E3518428563}"/>
              </a:ext>
            </a:extLst>
          </p:cNvPr>
          <p:cNvGraphicFramePr>
            <a:graphicFrameLocks noGrp="1"/>
          </p:cNvGraphicFramePr>
          <p:nvPr>
            <p:extLst>
              <p:ext uri="{D42A27DB-BD31-4B8C-83A1-F6EECF244321}">
                <p14:modId xmlns:p14="http://schemas.microsoft.com/office/powerpoint/2010/main" val="1926942711"/>
              </p:ext>
            </p:extLst>
          </p:nvPr>
        </p:nvGraphicFramePr>
        <p:xfrm>
          <a:off x="1609466" y="2583433"/>
          <a:ext cx="8973068" cy="2951480"/>
        </p:xfrm>
        <a:graphic>
          <a:graphicData uri="http://schemas.openxmlformats.org/drawingml/2006/table">
            <a:tbl>
              <a:tblPr firstRow="1" bandRow="1">
                <a:tableStyleId>{5940675A-B579-460E-94D1-54222C63F5DA}</a:tableStyleId>
              </a:tblPr>
              <a:tblGrid>
                <a:gridCol w="1283355">
                  <a:extLst>
                    <a:ext uri="{9D8B030D-6E8A-4147-A177-3AD203B41FA5}">
                      <a16:colId xmlns:a16="http://schemas.microsoft.com/office/drawing/2014/main" val="884824498"/>
                    </a:ext>
                  </a:extLst>
                </a:gridCol>
                <a:gridCol w="1916524">
                  <a:extLst>
                    <a:ext uri="{9D8B030D-6E8A-4147-A177-3AD203B41FA5}">
                      <a16:colId xmlns:a16="http://schemas.microsoft.com/office/drawing/2014/main" val="2848275232"/>
                    </a:ext>
                  </a:extLst>
                </a:gridCol>
                <a:gridCol w="1038543">
                  <a:extLst>
                    <a:ext uri="{9D8B030D-6E8A-4147-A177-3AD203B41FA5}">
                      <a16:colId xmlns:a16="http://schemas.microsoft.com/office/drawing/2014/main" val="2064180558"/>
                    </a:ext>
                  </a:extLst>
                </a:gridCol>
                <a:gridCol w="1038543">
                  <a:extLst>
                    <a:ext uri="{9D8B030D-6E8A-4147-A177-3AD203B41FA5}">
                      <a16:colId xmlns:a16="http://schemas.microsoft.com/office/drawing/2014/main" val="2978349940"/>
                    </a:ext>
                  </a:extLst>
                </a:gridCol>
                <a:gridCol w="1172971">
                  <a:extLst>
                    <a:ext uri="{9D8B030D-6E8A-4147-A177-3AD203B41FA5}">
                      <a16:colId xmlns:a16="http://schemas.microsoft.com/office/drawing/2014/main" val="1036805765"/>
                    </a:ext>
                  </a:extLst>
                </a:gridCol>
                <a:gridCol w="1295400">
                  <a:extLst>
                    <a:ext uri="{9D8B030D-6E8A-4147-A177-3AD203B41FA5}">
                      <a16:colId xmlns:a16="http://schemas.microsoft.com/office/drawing/2014/main" val="3144606178"/>
                    </a:ext>
                  </a:extLst>
                </a:gridCol>
                <a:gridCol w="1227732">
                  <a:extLst>
                    <a:ext uri="{9D8B030D-6E8A-4147-A177-3AD203B41FA5}">
                      <a16:colId xmlns:a16="http://schemas.microsoft.com/office/drawing/2014/main" val="1529259120"/>
                    </a:ext>
                  </a:extLst>
                </a:gridCol>
              </a:tblGrid>
              <a:tr h="185420">
                <a:tc rowSpan="2">
                  <a:txBody>
                    <a:bodyPr/>
                    <a:lstStyle/>
                    <a:p>
                      <a:pPr algn="ctr"/>
                      <a:r>
                        <a:rPr lang="vi-VN"/>
                        <a:t>STT</a:t>
                      </a:r>
                    </a:p>
                  </a:txBody>
                  <a:tcPr anchor="ctr"/>
                </a:tc>
                <a:tc rowSpan="2">
                  <a:txBody>
                    <a:bodyPr/>
                    <a:lstStyle/>
                    <a:p>
                      <a:pPr algn="ctr"/>
                      <a:r>
                        <a:rPr lang="en-US"/>
                        <a:t>Công việc</a:t>
                      </a:r>
                      <a:endParaRPr lang="vi-VN"/>
                    </a:p>
                  </a:txBody>
                  <a:tcPr anchor="ctr"/>
                </a:tc>
                <a:tc gridSpan="5">
                  <a:txBody>
                    <a:bodyPr/>
                    <a:lstStyle/>
                    <a:p>
                      <a:pPr algn="ctr"/>
                      <a:r>
                        <a:rPr lang="en-US"/>
                        <a:t>Kế hoạch thực hiện</a:t>
                      </a:r>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843810450"/>
                  </a:ext>
                </a:extLst>
              </a:tr>
              <a:tr h="375920">
                <a:tc vMerge="1">
                  <a:txBody>
                    <a:bodyPr/>
                    <a:lstStyle/>
                    <a:p>
                      <a:endParaRPr lang="vi-VN"/>
                    </a:p>
                  </a:txBody>
                  <a:tcPr/>
                </a:tc>
                <a:tc vMerge="1">
                  <a:txBody>
                    <a:bodyPr/>
                    <a:lstStyle/>
                    <a:p>
                      <a:endParaRPr lang="vi-VN"/>
                    </a:p>
                  </a:txBody>
                  <a:tcPr/>
                </a:tc>
                <a:tc>
                  <a:txBody>
                    <a:bodyPr/>
                    <a:lstStyle/>
                    <a:p>
                      <a:pPr algn="ctr"/>
                      <a:r>
                        <a:rPr lang="en-US"/>
                        <a:t>Tuần 1 - 2</a:t>
                      </a:r>
                      <a:endParaRPr lang="vi-VN"/>
                    </a:p>
                  </a:txBody>
                  <a:tcPr/>
                </a:tc>
                <a:tc>
                  <a:txBody>
                    <a:bodyPr/>
                    <a:lstStyle/>
                    <a:p>
                      <a:pPr algn="ctr"/>
                      <a:r>
                        <a:rPr lang="en-US"/>
                        <a:t>Tuần 3 - 5</a:t>
                      </a:r>
                      <a:endParaRPr lang="vi-VN"/>
                    </a:p>
                  </a:txBody>
                  <a:tcPr/>
                </a:tc>
                <a:tc>
                  <a:txBody>
                    <a:bodyPr/>
                    <a:lstStyle/>
                    <a:p>
                      <a:pPr algn="ctr"/>
                      <a:r>
                        <a:rPr lang="en-US"/>
                        <a:t>Tuần 6 - 7</a:t>
                      </a:r>
                      <a:endParaRPr lang="vi-VN"/>
                    </a:p>
                  </a:txBody>
                  <a:tcPr/>
                </a:tc>
                <a:tc>
                  <a:txBody>
                    <a:bodyPr/>
                    <a:lstStyle/>
                    <a:p>
                      <a:pPr algn="ctr"/>
                      <a:r>
                        <a:rPr lang="en-US"/>
                        <a:t>Tuần 8 - 14</a:t>
                      </a:r>
                      <a:endParaRPr lang="vi-VN"/>
                    </a:p>
                  </a:txBody>
                  <a:tcPr/>
                </a:tc>
                <a:tc>
                  <a:txBody>
                    <a:bodyPr/>
                    <a:lstStyle/>
                    <a:p>
                      <a:pPr algn="ctr"/>
                      <a:r>
                        <a:rPr lang="en-US"/>
                        <a:t>Tuần 15</a:t>
                      </a:r>
                      <a:endParaRPr lang="vi-VN"/>
                    </a:p>
                  </a:txBody>
                  <a:tcPr/>
                </a:tc>
                <a:extLst>
                  <a:ext uri="{0D108BD9-81ED-4DB2-BD59-A6C34878D82A}">
                    <a16:rowId xmlns:a16="http://schemas.microsoft.com/office/drawing/2014/main" val="3062657114"/>
                  </a:ext>
                </a:extLst>
              </a:tr>
              <a:tr h="386080">
                <a:tc>
                  <a:txBody>
                    <a:bodyPr/>
                    <a:lstStyle/>
                    <a:p>
                      <a:pPr algn="ctr"/>
                      <a:r>
                        <a:rPr lang="vi-VN"/>
                        <a:t>1</a:t>
                      </a:r>
                    </a:p>
                  </a:txBody>
                  <a:tcPr/>
                </a:tc>
                <a:tc>
                  <a:txBody>
                    <a:bodyPr/>
                    <a:lstStyle/>
                    <a:p>
                      <a:r>
                        <a:rPr lang="en-US"/>
                        <a:t>Viết báo cáo</a:t>
                      </a:r>
                      <a:endParaRPr lang="vi-VN"/>
                    </a:p>
                  </a:txBody>
                  <a:tcPr/>
                </a:tc>
                <a:tc>
                  <a:txBody>
                    <a:bodyPr/>
                    <a:lstStyle/>
                    <a:p>
                      <a:endParaRPr lang="vi-VN"/>
                    </a:p>
                  </a:txBody>
                  <a:tcPr>
                    <a:solidFill>
                      <a:schemeClr val="accent6">
                        <a:lumMod val="20000"/>
                        <a:lumOff val="80000"/>
                      </a:schemeClr>
                    </a:solidFill>
                  </a:tcPr>
                </a:tc>
                <a:tc>
                  <a:txBody>
                    <a:bodyPr/>
                    <a:lstStyle/>
                    <a:p>
                      <a:endParaRPr lang="vi-VN"/>
                    </a:p>
                  </a:txBody>
                  <a:tcPr>
                    <a:solidFill>
                      <a:schemeClr val="accent6">
                        <a:lumMod val="20000"/>
                        <a:lumOff val="80000"/>
                      </a:schemeClr>
                    </a:solidFill>
                  </a:tcPr>
                </a:tc>
                <a:tc>
                  <a:txBody>
                    <a:bodyPr/>
                    <a:lstStyle/>
                    <a:p>
                      <a:endParaRPr lang="vi-VN"/>
                    </a:p>
                  </a:txBody>
                  <a:tcPr>
                    <a:solidFill>
                      <a:schemeClr val="accent6">
                        <a:lumMod val="20000"/>
                        <a:lumOff val="80000"/>
                      </a:schemeClr>
                    </a:solidFill>
                  </a:tcPr>
                </a:tc>
                <a:tc>
                  <a:txBody>
                    <a:bodyPr/>
                    <a:lstStyle/>
                    <a:p>
                      <a:endParaRPr lang="vi-VN"/>
                    </a:p>
                  </a:txBody>
                  <a:tcPr>
                    <a:solidFill>
                      <a:schemeClr val="accent6">
                        <a:lumMod val="20000"/>
                        <a:lumOff val="80000"/>
                      </a:schemeClr>
                    </a:solidFill>
                  </a:tcPr>
                </a:tc>
                <a:tc>
                  <a:txBody>
                    <a:bodyPr/>
                    <a:lstStyle/>
                    <a:p>
                      <a:endParaRPr lang="vi-VN"/>
                    </a:p>
                  </a:txBody>
                  <a:tcPr>
                    <a:solidFill>
                      <a:schemeClr val="accent6">
                        <a:lumMod val="20000"/>
                        <a:lumOff val="80000"/>
                      </a:schemeClr>
                    </a:solidFill>
                  </a:tcPr>
                </a:tc>
                <a:extLst>
                  <a:ext uri="{0D108BD9-81ED-4DB2-BD59-A6C34878D82A}">
                    <a16:rowId xmlns:a16="http://schemas.microsoft.com/office/drawing/2014/main" val="2927944553"/>
                  </a:ext>
                </a:extLst>
              </a:tr>
              <a:tr h="381000">
                <a:tc>
                  <a:txBody>
                    <a:bodyPr/>
                    <a:lstStyle/>
                    <a:p>
                      <a:pPr algn="ctr"/>
                      <a:r>
                        <a:rPr lang="vi-VN"/>
                        <a:t>2</a:t>
                      </a:r>
                    </a:p>
                  </a:txBody>
                  <a:tcPr/>
                </a:tc>
                <a:tc>
                  <a:txBody>
                    <a:bodyPr/>
                    <a:lstStyle/>
                    <a:p>
                      <a:r>
                        <a:rPr lang="en-US"/>
                        <a:t>Khảo sát hệ thống</a:t>
                      </a:r>
                    </a:p>
                  </a:txBody>
                  <a:tcPr/>
                </a:tc>
                <a:tc>
                  <a:txBody>
                    <a:bodyPr/>
                    <a:lstStyle/>
                    <a:p>
                      <a:endParaRPr lang="vi-VN"/>
                    </a:p>
                  </a:txBody>
                  <a:tcPr>
                    <a:solidFill>
                      <a:schemeClr val="accent6">
                        <a:lumMod val="20000"/>
                        <a:lumOff val="80000"/>
                      </a:schemeClr>
                    </a:solidFill>
                  </a:tcPr>
                </a:tc>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extLst>
                  <a:ext uri="{0D108BD9-81ED-4DB2-BD59-A6C34878D82A}">
                    <a16:rowId xmlns:a16="http://schemas.microsoft.com/office/drawing/2014/main" val="473162785"/>
                  </a:ext>
                </a:extLst>
              </a:tr>
              <a:tr h="381000">
                <a:tc>
                  <a:txBody>
                    <a:bodyPr/>
                    <a:lstStyle/>
                    <a:p>
                      <a:pPr algn="ctr"/>
                      <a:r>
                        <a:rPr lang="vi-VN"/>
                        <a:t>3</a:t>
                      </a:r>
                    </a:p>
                  </a:txBody>
                  <a:tcPr/>
                </a:tc>
                <a:tc>
                  <a:txBody>
                    <a:bodyPr/>
                    <a:lstStyle/>
                    <a:p>
                      <a:r>
                        <a:rPr lang="en-US"/>
                        <a:t>Phân tích hệ thống</a:t>
                      </a:r>
                      <a:endParaRPr lang="vi-VN"/>
                    </a:p>
                  </a:txBody>
                  <a:tcPr/>
                </a:tc>
                <a:tc>
                  <a:txBody>
                    <a:bodyPr/>
                    <a:lstStyle/>
                    <a:p>
                      <a:endParaRPr lang="vi-VN"/>
                    </a:p>
                  </a:txBody>
                  <a:tcPr/>
                </a:tc>
                <a:tc>
                  <a:txBody>
                    <a:bodyPr/>
                    <a:lstStyle/>
                    <a:p>
                      <a:endParaRPr lang="vi-VN"/>
                    </a:p>
                  </a:txBody>
                  <a:tcPr>
                    <a:solidFill>
                      <a:schemeClr val="accent6">
                        <a:lumMod val="20000"/>
                        <a:lumOff val="80000"/>
                      </a:schemeClr>
                    </a:solidFill>
                  </a:tcPr>
                </a:tc>
                <a:tc>
                  <a:txBody>
                    <a:bodyPr/>
                    <a:lstStyle/>
                    <a:p>
                      <a:endParaRPr lang="vi-VN"/>
                    </a:p>
                  </a:txBody>
                  <a:tcPr/>
                </a:tc>
                <a:tc>
                  <a:txBody>
                    <a:bodyPr/>
                    <a:lstStyle/>
                    <a:p>
                      <a:endParaRPr lang="vi-VN"/>
                    </a:p>
                  </a:txBody>
                  <a:tcPr/>
                </a:tc>
                <a:tc>
                  <a:txBody>
                    <a:bodyPr/>
                    <a:lstStyle/>
                    <a:p>
                      <a:endParaRPr lang="vi-VN"/>
                    </a:p>
                  </a:txBody>
                  <a:tcPr/>
                </a:tc>
                <a:extLst>
                  <a:ext uri="{0D108BD9-81ED-4DB2-BD59-A6C34878D82A}">
                    <a16:rowId xmlns:a16="http://schemas.microsoft.com/office/drawing/2014/main" val="2359713014"/>
                  </a:ext>
                </a:extLst>
              </a:tr>
              <a:tr h="381000">
                <a:tc>
                  <a:txBody>
                    <a:bodyPr/>
                    <a:lstStyle/>
                    <a:p>
                      <a:pPr algn="ctr"/>
                      <a:r>
                        <a:rPr lang="vi-VN"/>
                        <a:t>4</a:t>
                      </a:r>
                    </a:p>
                  </a:txBody>
                  <a:tcPr/>
                </a:tc>
                <a:tc>
                  <a:txBody>
                    <a:bodyPr/>
                    <a:lstStyle/>
                    <a:p>
                      <a:r>
                        <a:rPr lang="en-US"/>
                        <a:t>Thiết kế hệ thống</a:t>
                      </a:r>
                      <a:endParaRPr lang="vi-VN"/>
                    </a:p>
                  </a:txBody>
                  <a:tcPr/>
                </a:tc>
                <a:tc>
                  <a:txBody>
                    <a:bodyPr/>
                    <a:lstStyle/>
                    <a:p>
                      <a:endParaRPr lang="vi-VN"/>
                    </a:p>
                  </a:txBody>
                  <a:tcPr/>
                </a:tc>
                <a:tc>
                  <a:txBody>
                    <a:bodyPr/>
                    <a:lstStyle/>
                    <a:p>
                      <a:endParaRPr lang="vi-VN"/>
                    </a:p>
                  </a:txBody>
                  <a:tcPr/>
                </a:tc>
                <a:tc>
                  <a:txBody>
                    <a:bodyPr/>
                    <a:lstStyle/>
                    <a:p>
                      <a:endParaRPr lang="vi-VN"/>
                    </a:p>
                  </a:txBody>
                  <a:tcPr>
                    <a:solidFill>
                      <a:schemeClr val="accent6">
                        <a:lumMod val="20000"/>
                        <a:lumOff val="80000"/>
                      </a:schemeClr>
                    </a:solidFill>
                  </a:tcPr>
                </a:tc>
                <a:tc>
                  <a:txBody>
                    <a:bodyPr/>
                    <a:lstStyle/>
                    <a:p>
                      <a:endParaRPr lang="vi-VN"/>
                    </a:p>
                  </a:txBody>
                  <a:tcPr/>
                </a:tc>
                <a:tc>
                  <a:txBody>
                    <a:bodyPr/>
                    <a:lstStyle/>
                    <a:p>
                      <a:endParaRPr lang="vi-VN"/>
                    </a:p>
                  </a:txBody>
                  <a:tcPr/>
                </a:tc>
                <a:extLst>
                  <a:ext uri="{0D108BD9-81ED-4DB2-BD59-A6C34878D82A}">
                    <a16:rowId xmlns:a16="http://schemas.microsoft.com/office/drawing/2014/main" val="1613695615"/>
                  </a:ext>
                </a:extLst>
              </a:tr>
              <a:tr h="370840">
                <a:tc>
                  <a:txBody>
                    <a:bodyPr/>
                    <a:lstStyle/>
                    <a:p>
                      <a:pPr algn="ctr"/>
                      <a:r>
                        <a:rPr lang="vi-VN"/>
                        <a:t>5</a:t>
                      </a:r>
                    </a:p>
                  </a:txBody>
                  <a:tcPr/>
                </a:tc>
                <a:tc>
                  <a:txBody>
                    <a:bodyPr/>
                    <a:lstStyle/>
                    <a:p>
                      <a:r>
                        <a:rPr lang="en-US"/>
                        <a:t>Xây dựng hệ thống</a:t>
                      </a:r>
                      <a:endParaRPr lang="vi-VN"/>
                    </a:p>
                  </a:txBody>
                  <a:tcPr/>
                </a:tc>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solidFill>
                      <a:schemeClr val="accent6">
                        <a:lumMod val="20000"/>
                        <a:lumOff val="80000"/>
                      </a:schemeClr>
                    </a:solidFill>
                  </a:tcPr>
                </a:tc>
                <a:tc>
                  <a:txBody>
                    <a:bodyPr/>
                    <a:lstStyle/>
                    <a:p>
                      <a:endParaRPr lang="vi-VN"/>
                    </a:p>
                  </a:txBody>
                  <a:tcPr/>
                </a:tc>
                <a:extLst>
                  <a:ext uri="{0D108BD9-81ED-4DB2-BD59-A6C34878D82A}">
                    <a16:rowId xmlns:a16="http://schemas.microsoft.com/office/drawing/2014/main" val="2801660571"/>
                  </a:ext>
                </a:extLst>
              </a:tr>
              <a:tr h="370840">
                <a:tc>
                  <a:txBody>
                    <a:bodyPr/>
                    <a:lstStyle/>
                    <a:p>
                      <a:pPr algn="ctr"/>
                      <a:r>
                        <a:rPr lang="vi-VN"/>
                        <a:t>6</a:t>
                      </a:r>
                    </a:p>
                  </a:txBody>
                  <a:tcPr/>
                </a:tc>
                <a:tc>
                  <a:txBody>
                    <a:bodyPr/>
                    <a:lstStyle/>
                    <a:p>
                      <a:r>
                        <a:rPr lang="vi-VN"/>
                        <a:t>Triển khai hệ thống</a:t>
                      </a:r>
                    </a:p>
                  </a:txBody>
                  <a:tcPr/>
                </a:tc>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solidFill>
                      <a:schemeClr val="accent6">
                        <a:lumMod val="20000"/>
                        <a:lumOff val="80000"/>
                      </a:schemeClr>
                    </a:solidFill>
                  </a:tcPr>
                </a:tc>
                <a:extLst>
                  <a:ext uri="{0D108BD9-81ED-4DB2-BD59-A6C34878D82A}">
                    <a16:rowId xmlns:a16="http://schemas.microsoft.com/office/drawing/2014/main" val="3665178841"/>
                  </a:ext>
                </a:extLst>
              </a:tr>
            </a:tbl>
          </a:graphicData>
        </a:graphic>
      </p:graphicFrame>
      <p:sp>
        <p:nvSpPr>
          <p:cNvPr id="6" name="TextBox 5">
            <a:extLst>
              <a:ext uri="{FF2B5EF4-FFF2-40B4-BE49-F238E27FC236}">
                <a16:creationId xmlns:a16="http://schemas.microsoft.com/office/drawing/2014/main" id="{AF4E0338-EC89-9CA5-0978-08F783E2CD68}"/>
              </a:ext>
            </a:extLst>
          </p:cNvPr>
          <p:cNvSpPr txBox="1"/>
          <p:nvPr/>
        </p:nvSpPr>
        <p:spPr>
          <a:xfrm>
            <a:off x="1609466" y="1096682"/>
            <a:ext cx="8973068" cy="707886"/>
          </a:xfrm>
          <a:prstGeom prst="rect">
            <a:avLst/>
          </a:prstGeom>
          <a:noFill/>
        </p:spPr>
        <p:txBody>
          <a:bodyPr wrap="square">
            <a:spAutoFit/>
          </a:bodyPr>
          <a:lstStyle/>
          <a:p>
            <a:r>
              <a:rPr lang="vi-VN" sz="2000" b="1"/>
              <a:t>Phạm vi đề tài:</a:t>
            </a:r>
            <a:r>
              <a:rPr lang="vi-VN" sz="2000"/>
              <a:t> Tập trung chuyên sâu vào "Quản lý tiến độ dự án" trong khuôn khổ hệ thống quản lý dự án tổng thể.</a:t>
            </a:r>
          </a:p>
        </p:txBody>
      </p:sp>
      <p:sp>
        <p:nvSpPr>
          <p:cNvPr id="7" name="TextBox 6">
            <a:extLst>
              <a:ext uri="{FF2B5EF4-FFF2-40B4-BE49-F238E27FC236}">
                <a16:creationId xmlns:a16="http://schemas.microsoft.com/office/drawing/2014/main" id="{2B2E54C9-B7CA-5762-CD29-C8B65E80ED14}"/>
              </a:ext>
            </a:extLst>
          </p:cNvPr>
          <p:cNvSpPr txBox="1"/>
          <p:nvPr/>
        </p:nvSpPr>
        <p:spPr>
          <a:xfrm>
            <a:off x="1609466" y="2183323"/>
            <a:ext cx="3048000" cy="400110"/>
          </a:xfrm>
          <a:prstGeom prst="rect">
            <a:avLst/>
          </a:prstGeom>
          <a:noFill/>
        </p:spPr>
        <p:txBody>
          <a:bodyPr wrap="square" rtlCol="0">
            <a:spAutoFit/>
          </a:bodyPr>
          <a:lstStyle/>
          <a:p>
            <a:r>
              <a:rPr lang="en-US" sz="2000" b="1"/>
              <a:t>Kế hoạch thực hiện</a:t>
            </a:r>
            <a:endParaRPr lang="vi-VN" sz="2000" b="1"/>
          </a:p>
        </p:txBody>
      </p:sp>
    </p:spTree>
    <p:extLst>
      <p:ext uri="{BB962C8B-B14F-4D97-AF65-F5344CB8AC3E}">
        <p14:creationId xmlns:p14="http://schemas.microsoft.com/office/powerpoint/2010/main" val="554416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g34d6361a527_5_18"/>
          <p:cNvSpPr txBox="1"/>
          <p:nvPr/>
        </p:nvSpPr>
        <p:spPr>
          <a:xfrm>
            <a:off x="765315" y="211063"/>
            <a:ext cx="9902700" cy="461624"/>
          </a:xfrm>
          <a:prstGeom prst="rect">
            <a:avLst/>
          </a:prstGeom>
          <a:noFill/>
          <a:ln>
            <a:noFill/>
          </a:ln>
        </p:spPr>
        <p:txBody>
          <a:bodyPr spcFirstLastPara="1" wrap="square" lIns="91425" tIns="45700" rIns="91425" bIns="45700" anchor="t" anchorCtr="0">
            <a:spAutoFit/>
          </a:bodyPr>
          <a:lstStyle/>
          <a:p>
            <a:pPr marL="76200" marR="0" lvl="0" algn="l" rtl="0">
              <a:lnSpc>
                <a:spcPct val="100000"/>
              </a:lnSpc>
              <a:spcBef>
                <a:spcPts val="0"/>
              </a:spcBef>
              <a:spcAft>
                <a:spcPts val="0"/>
              </a:spcAft>
              <a:buClr>
                <a:srgbClr val="0070C0"/>
              </a:buClr>
              <a:buSzPts val="2400"/>
            </a:pPr>
            <a:r>
              <a:rPr lang="en-US" sz="2400" b="1">
                <a:solidFill>
                  <a:srgbClr val="0070C0"/>
                </a:solidFill>
              </a:rPr>
              <a:t>4. Công nghệ sử dụng </a:t>
            </a:r>
            <a:endParaRPr lang="en-US" sz="2400" b="0" i="0" u="none" strike="noStrike" cap="none" dirty="0">
              <a:solidFill>
                <a:schemeClr val="dk1"/>
              </a:solidFill>
              <a:latin typeface="Arial"/>
              <a:ea typeface="Arial"/>
              <a:cs typeface="Arial"/>
              <a:sym typeface="Arial"/>
            </a:endParaRPr>
          </a:p>
        </p:txBody>
      </p:sp>
      <p:pic>
        <p:nvPicPr>
          <p:cNvPr id="76" name="Google Shape;76;g34d6361a527_5_18"/>
          <p:cNvPicPr preferRelativeResize="0"/>
          <p:nvPr/>
        </p:nvPicPr>
        <p:blipFill rotWithShape="1">
          <a:blip r:embed="rId3">
            <a:alphaModFix/>
          </a:blip>
          <a:srcRect/>
          <a:stretch/>
        </p:blipFill>
        <p:spPr>
          <a:xfrm>
            <a:off x="10983558" y="158451"/>
            <a:ext cx="1016147" cy="638141"/>
          </a:xfrm>
          <a:prstGeom prst="rect">
            <a:avLst/>
          </a:prstGeom>
          <a:noFill/>
          <a:ln>
            <a:noFill/>
          </a:ln>
        </p:spPr>
      </p:pic>
      <p:sp>
        <p:nvSpPr>
          <p:cNvPr id="77" name="Google Shape;77;g34d6361a527_5_18"/>
          <p:cNvSpPr txBox="1">
            <a:spLocks noGrp="1"/>
          </p:cNvSpPr>
          <p:nvPr>
            <p:ph type="sldNum" idx="12"/>
          </p:nvPr>
        </p:nvSpPr>
        <p:spPr>
          <a:xfrm>
            <a:off x="9353910" y="6438301"/>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6</a:t>
            </a:fld>
            <a:endParaRPr>
              <a:solidFill>
                <a:schemeClr val="lt1"/>
              </a:solidFill>
            </a:endParaRPr>
          </a:p>
        </p:txBody>
      </p:sp>
      <p:sp>
        <p:nvSpPr>
          <p:cNvPr id="78" name="Google Shape;78;g34d6361a527_5_18"/>
          <p:cNvSpPr txBox="1"/>
          <p:nvPr/>
        </p:nvSpPr>
        <p:spPr>
          <a:xfrm>
            <a:off x="765315" y="1024476"/>
            <a:ext cx="6016485" cy="4981200"/>
          </a:xfrm>
          <a:prstGeom prst="rect">
            <a:avLst/>
          </a:prstGeom>
          <a:noFill/>
          <a:ln>
            <a:noFill/>
          </a:ln>
        </p:spPr>
        <p:txBody>
          <a:bodyPr spcFirstLastPara="1" wrap="square" lIns="91425" tIns="91425" rIns="91425" bIns="91425" anchor="t" anchorCtr="0">
            <a:noAutofit/>
          </a:bodyPr>
          <a:lstStyle/>
          <a:p>
            <a:pPr algn="just">
              <a:buNone/>
            </a:pPr>
            <a:r>
              <a:rPr lang="en-US" sz="1800"/>
              <a:t>Front-end: VueJS</a:t>
            </a:r>
          </a:p>
          <a:p>
            <a:pPr marL="285750" indent="-285750" algn="just">
              <a:buFont typeface="Arial" panose="020B0604020202020204" pitchFamily="34" charset="0"/>
              <a:buChar char="•"/>
            </a:pPr>
            <a:r>
              <a:rPr lang="vi-VN" sz="1800"/>
              <a:t>Vue.js một framework JavaScript hiện đại dùng để xây dựng giao diện người dùng (UI) và ứng dụng web theo hướng component-based</a:t>
            </a:r>
            <a:r>
              <a:rPr lang="en-US" sz="1800"/>
              <a:t>, kết hợp với TailwindCSS.</a:t>
            </a:r>
            <a:endParaRPr lang="vi-VN"/>
          </a:p>
          <a:p>
            <a:pPr algn="just"/>
            <a:endParaRPr lang="en-US" sz="1800"/>
          </a:p>
          <a:p>
            <a:pPr algn="just"/>
            <a:r>
              <a:rPr lang="en-US" sz="1800"/>
              <a:t>Back-end: PHP, Laravel</a:t>
            </a:r>
          </a:p>
          <a:p>
            <a:pPr marL="285750" indent="-285750" algn="just">
              <a:buFont typeface="Arial" panose="020B0604020202020204" pitchFamily="34" charset="0"/>
              <a:buChar char="•"/>
            </a:pPr>
            <a:r>
              <a:rPr lang="vi-VN" sz="1800"/>
              <a:t>PHP Laravel</a:t>
            </a:r>
            <a:r>
              <a:rPr lang="vi-VN" sz="1800" b="1"/>
              <a:t> </a:t>
            </a:r>
            <a:r>
              <a:rPr lang="vi-VN" sz="1800"/>
              <a:t>là một framework PHP mã nguồn mở được thiết kế để giúp việc phát triển ứng dụng web trở nên nhanh chóng, mạnh mẽ</a:t>
            </a:r>
            <a:r>
              <a:rPr lang="en-US" sz="1800"/>
              <a:t>.</a:t>
            </a:r>
          </a:p>
          <a:p>
            <a:pPr algn="just"/>
            <a:endParaRPr lang="en-US" sz="1800" dirty="0"/>
          </a:p>
          <a:p>
            <a:pPr algn="just"/>
            <a:r>
              <a:rPr lang="en-US" sz="1800"/>
              <a:t>Database: MySQL</a:t>
            </a:r>
          </a:p>
          <a:p>
            <a:pPr marL="285750" indent="-285750" algn="just">
              <a:buFont typeface="Arial" panose="020B0604020202020204" pitchFamily="34" charset="0"/>
              <a:buChar char="•"/>
            </a:pPr>
            <a:r>
              <a:rPr lang="en-US" sz="1800"/>
              <a:t>Là một hệ quản trị cơ sở dữ liệu quan hệ (RDBMS) phổ biến trên thế giới, được phát triển ban đầu bởi MySQL AB và hiện do Oracle quản lý.</a:t>
            </a:r>
          </a:p>
        </p:txBody>
      </p:sp>
      <p:cxnSp>
        <p:nvCxnSpPr>
          <p:cNvPr id="79" name="Google Shape;79;g34d6361a527_5_18"/>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2" name="AutoShape 2" descr="Vue.js Logo PNG Vector (SVG) Free Download">
            <a:extLst>
              <a:ext uri="{FF2B5EF4-FFF2-40B4-BE49-F238E27FC236}">
                <a16:creationId xmlns:a16="http://schemas.microsoft.com/office/drawing/2014/main" id="{4D4C2776-9502-7320-6E98-B0F04E9C18BF}"/>
              </a:ext>
            </a:extLst>
          </p:cNvPr>
          <p:cNvSpPr>
            <a:spLocks noChangeAspect="1" noChangeArrowheads="1"/>
          </p:cNvSpPr>
          <p:nvPr/>
        </p:nvSpPr>
        <p:spPr bwMode="auto">
          <a:xfrm>
            <a:off x="5943600" y="3276600"/>
            <a:ext cx="3410310" cy="341031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54" name="Picture 6" descr="Vuejs logo - Social media &amp; Logos Icons">
            <a:extLst>
              <a:ext uri="{FF2B5EF4-FFF2-40B4-BE49-F238E27FC236}">
                <a16:creationId xmlns:a16="http://schemas.microsoft.com/office/drawing/2014/main" id="{FD6D740C-6A12-5B43-9029-5688AFA8E1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0910" y="1157243"/>
            <a:ext cx="2304690" cy="115234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Laravel Logo PNG vector in SVG, PDF, AI, CDR format">
            <a:extLst>
              <a:ext uri="{FF2B5EF4-FFF2-40B4-BE49-F238E27FC236}">
                <a16:creationId xmlns:a16="http://schemas.microsoft.com/office/drawing/2014/main" id="{A833F3D3-DDB0-66A6-095E-988C4F2200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0910" y="2146128"/>
            <a:ext cx="2589690" cy="194376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Download MySQL Logo in SVG Vector or PNG File Format - Logo.wine">
            <a:extLst>
              <a:ext uri="{FF2B5EF4-FFF2-40B4-BE49-F238E27FC236}">
                <a16:creationId xmlns:a16="http://schemas.microsoft.com/office/drawing/2014/main" id="{6C2072B5-DF9D-64A1-9397-979BC4921D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10910" y="3606747"/>
            <a:ext cx="2589690" cy="17264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80ACE19-2895-D33D-75E8-AF3DF50AA794}"/>
            </a:ext>
          </a:extLst>
        </p:cNvPr>
        <p:cNvGrpSpPr/>
        <p:nvPr/>
      </p:nvGrpSpPr>
      <p:grpSpPr>
        <a:xfrm>
          <a:off x="0" y="0"/>
          <a:ext cx="0" cy="0"/>
          <a:chOff x="0" y="0"/>
          <a:chExt cx="0" cy="0"/>
        </a:xfrm>
      </p:grpSpPr>
      <p:pic>
        <p:nvPicPr>
          <p:cNvPr id="36" name="Google Shape;36;g34d6361a527_5_0">
            <a:extLst>
              <a:ext uri="{FF2B5EF4-FFF2-40B4-BE49-F238E27FC236}">
                <a16:creationId xmlns:a16="http://schemas.microsoft.com/office/drawing/2014/main" id="{C3BF2CBC-95C8-5EEB-A506-452C90069FAB}"/>
              </a:ext>
            </a:extLst>
          </p:cNvPr>
          <p:cNvPicPr preferRelativeResize="0"/>
          <p:nvPr/>
        </p:nvPicPr>
        <p:blipFill rotWithShape="1">
          <a:blip r:embed="rId3">
            <a:alphaModFix/>
          </a:blip>
          <a:srcRect/>
          <a:stretch/>
        </p:blipFill>
        <p:spPr>
          <a:xfrm>
            <a:off x="10983558" y="158451"/>
            <a:ext cx="1016147" cy="638141"/>
          </a:xfrm>
          <a:prstGeom prst="rect">
            <a:avLst/>
          </a:prstGeom>
          <a:noFill/>
          <a:ln>
            <a:noFill/>
          </a:ln>
        </p:spPr>
      </p:pic>
      <p:cxnSp>
        <p:nvCxnSpPr>
          <p:cNvPr id="37" name="Google Shape;37;g34d6361a527_5_0">
            <a:extLst>
              <a:ext uri="{FF2B5EF4-FFF2-40B4-BE49-F238E27FC236}">
                <a16:creationId xmlns:a16="http://schemas.microsoft.com/office/drawing/2014/main" id="{68D2B74F-3FDB-DD97-1AE6-0C0C36B21377}"/>
              </a:ext>
            </a:extLst>
          </p:cNvPr>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38" name="Google Shape;38;g34d6361a527_5_0">
            <a:extLst>
              <a:ext uri="{FF2B5EF4-FFF2-40B4-BE49-F238E27FC236}">
                <a16:creationId xmlns:a16="http://schemas.microsoft.com/office/drawing/2014/main" id="{0AFF3978-D7B5-7137-48B9-DED13B971EB9}"/>
              </a:ext>
            </a:extLst>
          </p:cNvPr>
          <p:cNvSpPr txBox="1"/>
          <p:nvPr/>
        </p:nvSpPr>
        <p:spPr>
          <a:xfrm>
            <a:off x="765315" y="211063"/>
            <a:ext cx="9126900" cy="461700"/>
          </a:xfrm>
          <a:prstGeom prst="rect">
            <a:avLst/>
          </a:prstGeom>
          <a:noFill/>
          <a:ln>
            <a:noFill/>
          </a:ln>
        </p:spPr>
        <p:txBody>
          <a:bodyPr spcFirstLastPara="1" wrap="square" lIns="91425" tIns="45700" rIns="91425" bIns="45700" anchor="t" anchorCtr="0">
            <a:spAutoFit/>
          </a:bodyPr>
          <a:lstStyle/>
          <a:p>
            <a:pPr marL="76200" marR="0" lvl="0" algn="l" rtl="0">
              <a:lnSpc>
                <a:spcPct val="100000"/>
              </a:lnSpc>
              <a:spcBef>
                <a:spcPts val="0"/>
              </a:spcBef>
              <a:spcAft>
                <a:spcPts val="0"/>
              </a:spcAft>
              <a:buClr>
                <a:srgbClr val="0070C0"/>
              </a:buClr>
              <a:buSzPts val="2400"/>
            </a:pPr>
            <a:r>
              <a:rPr lang="en-US" sz="2400" b="1">
                <a:solidFill>
                  <a:srgbClr val="0070C0"/>
                </a:solidFill>
              </a:rPr>
              <a:t>5</a:t>
            </a:r>
            <a:r>
              <a:rPr lang="en-US" sz="2400" b="1" i="0" u="none" strike="noStrike" cap="none">
                <a:solidFill>
                  <a:srgbClr val="0070C0"/>
                </a:solidFill>
                <a:latin typeface="Arial"/>
                <a:ea typeface="Arial"/>
                <a:cs typeface="Arial"/>
                <a:sym typeface="Arial"/>
              </a:rPr>
              <a:t>. Phân tích nghiệp vụ</a:t>
            </a:r>
            <a:endParaRPr sz="2400" b="1" i="0" u="none" strike="noStrike" cap="none" dirty="0">
              <a:solidFill>
                <a:srgbClr val="0070C0"/>
              </a:solidFill>
              <a:latin typeface="Arial"/>
              <a:ea typeface="Arial"/>
              <a:cs typeface="Arial"/>
              <a:sym typeface="Arial"/>
            </a:endParaRPr>
          </a:p>
        </p:txBody>
      </p:sp>
      <p:sp>
        <p:nvSpPr>
          <p:cNvPr id="39" name="Google Shape;39;g34d6361a527_5_0">
            <a:extLst>
              <a:ext uri="{FF2B5EF4-FFF2-40B4-BE49-F238E27FC236}">
                <a16:creationId xmlns:a16="http://schemas.microsoft.com/office/drawing/2014/main" id="{137F1B34-BB77-0E92-9462-51C1484B724C}"/>
              </a:ext>
            </a:extLst>
          </p:cNvPr>
          <p:cNvSpPr txBox="1">
            <a:spLocks noGrp="1"/>
          </p:cNvSpPr>
          <p:nvPr>
            <p:ph type="sldNum" idx="12"/>
          </p:nvPr>
        </p:nvSpPr>
        <p:spPr>
          <a:xfrm>
            <a:off x="9353910" y="6438301"/>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7</a:t>
            </a:fld>
            <a:endParaRPr>
              <a:solidFill>
                <a:schemeClr val="lt1"/>
              </a:solidFill>
            </a:endParaRPr>
          </a:p>
        </p:txBody>
      </p:sp>
      <p:sp>
        <p:nvSpPr>
          <p:cNvPr id="2" name="TextBox 1">
            <a:extLst>
              <a:ext uri="{FF2B5EF4-FFF2-40B4-BE49-F238E27FC236}">
                <a16:creationId xmlns:a16="http://schemas.microsoft.com/office/drawing/2014/main" id="{17572167-684B-C5CF-8302-403CC0388093}"/>
              </a:ext>
            </a:extLst>
          </p:cNvPr>
          <p:cNvSpPr txBox="1"/>
          <p:nvPr/>
        </p:nvSpPr>
        <p:spPr>
          <a:xfrm>
            <a:off x="1143001" y="1371600"/>
            <a:ext cx="9525000" cy="3693319"/>
          </a:xfrm>
          <a:prstGeom prst="rect">
            <a:avLst/>
          </a:prstGeom>
          <a:noFill/>
        </p:spPr>
        <p:txBody>
          <a:bodyPr wrap="square" rtlCol="0">
            <a:spAutoFit/>
          </a:bodyPr>
          <a:lstStyle/>
          <a:p>
            <a:r>
              <a:rPr lang="en-US" sz="1800" b="1"/>
              <a:t>Tham khảo quy trình nghiệp vụ của hệ thống trong doanh nghiệp</a:t>
            </a:r>
          </a:p>
          <a:p>
            <a:pPr marL="285750" indent="-285750" algn="just">
              <a:buFont typeface="Arial" panose="020B0604020202020204" pitchFamily="34" charset="0"/>
              <a:buChar char="•"/>
            </a:pPr>
            <a:r>
              <a:rPr lang="vi-VN" sz="1800" b="1"/>
              <a:t>Quy trình đăng ký</a:t>
            </a:r>
            <a:r>
              <a:rPr lang="vi-VN" sz="1800"/>
              <a:t>: Người dùng nhập thông tin, hệ thống kiểm tra, tạo tài khoản nếu hợp lệ.</a:t>
            </a:r>
          </a:p>
          <a:p>
            <a:pPr marL="285750" indent="-285750" algn="just">
              <a:buFont typeface="Arial" panose="020B0604020202020204" pitchFamily="34" charset="0"/>
              <a:buChar char="•"/>
            </a:pPr>
            <a:r>
              <a:rPr lang="vi-VN" sz="1800" b="1"/>
              <a:t>Quy trình Đăng nhập:</a:t>
            </a:r>
            <a:r>
              <a:rPr lang="vi-VN" sz="1800"/>
              <a:t> Người dùng nhập thông tin, hệ thống xác thực, chuyển hướng đến dashboard/trang tài khoản.</a:t>
            </a:r>
          </a:p>
          <a:p>
            <a:pPr marL="285750" indent="-285750" algn="just">
              <a:buFont typeface="Arial" panose="020B0604020202020204" pitchFamily="34" charset="0"/>
              <a:buChar char="•"/>
            </a:pPr>
            <a:r>
              <a:rPr lang="vi-VN" sz="1800" b="1"/>
              <a:t>Quy trình Tạo không gian làm việc:</a:t>
            </a:r>
            <a:r>
              <a:rPr lang="vi-VN" sz="1800"/>
              <a:t> Quản lý tạo workspace mới, hệ thống lưu và chuyển hướng. </a:t>
            </a:r>
          </a:p>
          <a:p>
            <a:pPr marL="285750" indent="-285750" algn="just">
              <a:buFont typeface="Arial" panose="020B0604020202020204" pitchFamily="34" charset="0"/>
              <a:buChar char="•"/>
            </a:pPr>
            <a:r>
              <a:rPr lang="vi-VN" sz="1800" b="1"/>
              <a:t>Quy trình Mời thành viên:</a:t>
            </a:r>
            <a:r>
              <a:rPr lang="vi-VN" sz="1800"/>
              <a:t> Quản lý gửi lời mời qua email, người nhận chấp nhận để tham gia workspace.</a:t>
            </a:r>
          </a:p>
          <a:p>
            <a:pPr marL="285750" indent="-285750" algn="just">
              <a:buFont typeface="Arial" panose="020B0604020202020204" pitchFamily="34" charset="0"/>
              <a:buChar char="•"/>
            </a:pPr>
            <a:r>
              <a:rPr lang="vi-VN" sz="1800" b="1"/>
              <a:t>Quy trình Quản lý tiến độ dự án:</a:t>
            </a:r>
            <a:r>
              <a:rPr lang="vi-VN" sz="1800"/>
              <a:t> Quản lý tạo dự án, thêm thành viên, tạo/giao công việc; thành viên cập nhật tiến độ; quản lý giám sát/xóa công việc.</a:t>
            </a:r>
          </a:p>
          <a:p>
            <a:pPr marL="285750" indent="-285750" algn="just">
              <a:buFont typeface="Arial" panose="020B0604020202020204" pitchFamily="34" charset="0"/>
              <a:buChar char="•"/>
            </a:pPr>
            <a:r>
              <a:rPr lang="vi-VN" sz="1800" b="1"/>
              <a:t>Quy trình Quản lý công việc:</a:t>
            </a:r>
            <a:r>
              <a:rPr lang="vi-VN" sz="1800"/>
              <a:t> Quản lý tạo task, giao cho thành viên; thành viên thực hiện, cập nhật trạng thái; quản lý kiểm tra, phê duyệt/yêu cầu chỉnh sửa.</a:t>
            </a:r>
            <a:endParaRPr lang="vi-VN"/>
          </a:p>
        </p:txBody>
      </p:sp>
    </p:spTree>
    <p:extLst>
      <p:ext uri="{BB962C8B-B14F-4D97-AF65-F5344CB8AC3E}">
        <p14:creationId xmlns:p14="http://schemas.microsoft.com/office/powerpoint/2010/main" val="1189482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84E5B0-8EF4-1D0E-3B64-9FB57F07D7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r>
              <a:rPr lang="en-US"/>
              <a:t>/25</a:t>
            </a:r>
          </a:p>
        </p:txBody>
      </p:sp>
      <p:pic>
        <p:nvPicPr>
          <p:cNvPr id="3" name="Google Shape;36;g34d6361a527_5_0">
            <a:extLst>
              <a:ext uri="{FF2B5EF4-FFF2-40B4-BE49-F238E27FC236}">
                <a16:creationId xmlns:a16="http://schemas.microsoft.com/office/drawing/2014/main" id="{E2DAEA57-7621-378D-B4EA-1DA3CED88C7A}"/>
              </a:ext>
            </a:extLst>
          </p:cNvPr>
          <p:cNvPicPr preferRelativeResize="0"/>
          <p:nvPr/>
        </p:nvPicPr>
        <p:blipFill rotWithShape="1">
          <a:blip r:embed="rId2">
            <a:alphaModFix/>
          </a:blip>
          <a:srcRect/>
          <a:stretch/>
        </p:blipFill>
        <p:spPr>
          <a:xfrm>
            <a:off x="10983558" y="158451"/>
            <a:ext cx="1016147" cy="638141"/>
          </a:xfrm>
          <a:prstGeom prst="rect">
            <a:avLst/>
          </a:prstGeom>
          <a:noFill/>
          <a:ln>
            <a:noFill/>
          </a:ln>
        </p:spPr>
      </p:pic>
      <p:cxnSp>
        <p:nvCxnSpPr>
          <p:cNvPr id="4" name="Google Shape;37;g34d6361a527_5_0">
            <a:extLst>
              <a:ext uri="{FF2B5EF4-FFF2-40B4-BE49-F238E27FC236}">
                <a16:creationId xmlns:a16="http://schemas.microsoft.com/office/drawing/2014/main" id="{E51B7D03-EFF4-0861-1F64-44C07F341891}"/>
              </a:ext>
            </a:extLst>
          </p:cNvPr>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5" name="Google Shape;38;g34d6361a527_5_0">
            <a:extLst>
              <a:ext uri="{FF2B5EF4-FFF2-40B4-BE49-F238E27FC236}">
                <a16:creationId xmlns:a16="http://schemas.microsoft.com/office/drawing/2014/main" id="{17857657-70B5-F876-6784-64CE054A07C5}"/>
              </a:ext>
            </a:extLst>
          </p:cNvPr>
          <p:cNvSpPr txBox="1"/>
          <p:nvPr/>
        </p:nvSpPr>
        <p:spPr>
          <a:xfrm>
            <a:off x="765315" y="211063"/>
            <a:ext cx="9126900" cy="461700"/>
          </a:xfrm>
          <a:prstGeom prst="rect">
            <a:avLst/>
          </a:prstGeom>
          <a:noFill/>
          <a:ln>
            <a:noFill/>
          </a:ln>
        </p:spPr>
        <p:txBody>
          <a:bodyPr spcFirstLastPara="1" wrap="square" lIns="91425" tIns="45700" rIns="91425" bIns="45700" anchor="t" anchorCtr="0">
            <a:spAutoFit/>
          </a:bodyPr>
          <a:lstStyle/>
          <a:p>
            <a:pPr marL="76200" marR="0" lvl="0" algn="l" rtl="0">
              <a:lnSpc>
                <a:spcPct val="100000"/>
              </a:lnSpc>
              <a:spcBef>
                <a:spcPts val="0"/>
              </a:spcBef>
              <a:spcAft>
                <a:spcPts val="0"/>
              </a:spcAft>
              <a:buClr>
                <a:srgbClr val="0070C0"/>
              </a:buClr>
              <a:buSzPts val="2400"/>
            </a:pPr>
            <a:r>
              <a:rPr lang="en-US" sz="2400" b="1">
                <a:solidFill>
                  <a:srgbClr val="0070C0"/>
                </a:solidFill>
              </a:rPr>
              <a:t>5</a:t>
            </a:r>
            <a:r>
              <a:rPr lang="en-US" sz="2400" b="1" i="0" u="none" strike="noStrike" cap="none">
                <a:solidFill>
                  <a:srgbClr val="0070C0"/>
                </a:solidFill>
                <a:latin typeface="Arial"/>
                <a:ea typeface="Arial"/>
                <a:cs typeface="Arial"/>
                <a:sym typeface="Arial"/>
              </a:rPr>
              <a:t>. Xác định chức năng</a:t>
            </a:r>
            <a:endParaRPr sz="2400" b="1" i="0" u="none" strike="noStrike" cap="none" dirty="0">
              <a:solidFill>
                <a:srgbClr val="0070C0"/>
              </a:solidFill>
              <a:latin typeface="Arial"/>
              <a:ea typeface="Arial"/>
              <a:cs typeface="Arial"/>
              <a:sym typeface="Arial"/>
            </a:endParaRPr>
          </a:p>
        </p:txBody>
      </p:sp>
      <p:sp>
        <p:nvSpPr>
          <p:cNvPr id="8" name="TextBox 7">
            <a:extLst>
              <a:ext uri="{FF2B5EF4-FFF2-40B4-BE49-F238E27FC236}">
                <a16:creationId xmlns:a16="http://schemas.microsoft.com/office/drawing/2014/main" id="{934776B9-EDFB-1404-D746-A38D7D5BE7E2}"/>
              </a:ext>
            </a:extLst>
          </p:cNvPr>
          <p:cNvSpPr txBox="1"/>
          <p:nvPr/>
        </p:nvSpPr>
        <p:spPr>
          <a:xfrm>
            <a:off x="3314700" y="1392194"/>
            <a:ext cx="5562600" cy="4493538"/>
          </a:xfrm>
          <a:prstGeom prst="rect">
            <a:avLst/>
          </a:prstGeom>
          <a:noFill/>
        </p:spPr>
        <p:txBody>
          <a:bodyPr wrap="square" rtlCol="0">
            <a:spAutoFit/>
          </a:bodyPr>
          <a:lstStyle/>
          <a:p>
            <a:r>
              <a:rPr lang="en-US" sz="2000"/>
              <a:t>1. Yêu cầu chức năng:</a:t>
            </a:r>
          </a:p>
          <a:p>
            <a:pPr lvl="0"/>
            <a:r>
              <a:rPr lang="en-US" sz="1800" i="1"/>
              <a:t>- Yêu cầu chức năng </a:t>
            </a:r>
            <a:r>
              <a:rPr lang="vi-VN" sz="1800" i="1"/>
              <a:t>cơ bản của</a:t>
            </a:r>
            <a:r>
              <a:rPr lang="en-US" sz="1800" i="1"/>
              <a:t> tài khoản</a:t>
            </a:r>
            <a:endParaRPr lang="vi-VN" sz="1800"/>
          </a:p>
          <a:p>
            <a:pPr marL="542925" indent="-285750">
              <a:buFont typeface="Arial" panose="020B0604020202020204" pitchFamily="34" charset="0"/>
              <a:buChar char="•"/>
            </a:pPr>
            <a:r>
              <a:rPr lang="en-US" sz="1800" b="1"/>
              <a:t>R1:</a:t>
            </a:r>
            <a:r>
              <a:rPr lang="en-US" sz="1800"/>
              <a:t> Quản lý tài khoản người dùng.</a:t>
            </a:r>
            <a:endParaRPr lang="vi-VN" sz="1800"/>
          </a:p>
          <a:p>
            <a:pPr lvl="0"/>
            <a:r>
              <a:rPr lang="en-US" sz="1800" i="1"/>
              <a:t>- Yêu cầu chức năng cho quản lý và quản trị viên</a:t>
            </a:r>
            <a:endParaRPr lang="vi-VN" sz="1800"/>
          </a:p>
          <a:p>
            <a:pPr marL="542925" indent="-285750">
              <a:buFont typeface="Arial" panose="020B0604020202020204" pitchFamily="34" charset="0"/>
              <a:buChar char="•"/>
            </a:pPr>
            <a:r>
              <a:rPr lang="en-US" sz="1800" b="1"/>
              <a:t>R2</a:t>
            </a:r>
            <a:r>
              <a:rPr lang="en-US" sz="1800"/>
              <a:t>: Quản lý không gian làm việc</a:t>
            </a:r>
            <a:endParaRPr lang="vi-VN" sz="1800"/>
          </a:p>
          <a:p>
            <a:pPr marL="542925" indent="-285750">
              <a:buFont typeface="Arial" panose="020B0604020202020204" pitchFamily="34" charset="0"/>
              <a:buChar char="•"/>
            </a:pPr>
            <a:r>
              <a:rPr lang="en-US" sz="1800" b="1"/>
              <a:t>R3</a:t>
            </a:r>
            <a:r>
              <a:rPr lang="en-US" sz="1800"/>
              <a:t>: Quản lý dự án</a:t>
            </a:r>
            <a:endParaRPr lang="vi-VN" sz="1800"/>
          </a:p>
          <a:p>
            <a:pPr marL="542925" indent="-285750">
              <a:buFont typeface="Arial" panose="020B0604020202020204" pitchFamily="34" charset="0"/>
              <a:buChar char="•"/>
            </a:pPr>
            <a:r>
              <a:rPr lang="en-US" sz="1800" b="1"/>
              <a:t>R4</a:t>
            </a:r>
            <a:r>
              <a:rPr lang="en-US" sz="1800"/>
              <a:t>: Quản lý thành viên</a:t>
            </a:r>
            <a:endParaRPr lang="vi-VN" sz="1800"/>
          </a:p>
          <a:p>
            <a:pPr marL="542925" indent="-285750">
              <a:buFont typeface="Arial" panose="020B0604020202020204" pitchFamily="34" charset="0"/>
              <a:buChar char="•"/>
            </a:pPr>
            <a:r>
              <a:rPr lang="en-US" sz="1800" b="1"/>
              <a:t>R5</a:t>
            </a:r>
            <a:r>
              <a:rPr lang="en-US" sz="1800"/>
              <a:t>: Quản lý công việc</a:t>
            </a:r>
            <a:endParaRPr lang="vi-VN" sz="1800"/>
          </a:p>
          <a:p>
            <a:pPr marL="542925" indent="-285750">
              <a:buFont typeface="Arial" panose="020B0604020202020204" pitchFamily="34" charset="0"/>
              <a:buChar char="•"/>
            </a:pPr>
            <a:r>
              <a:rPr lang="en-US" sz="1800" b="1"/>
              <a:t>R6</a:t>
            </a:r>
            <a:r>
              <a:rPr lang="en-US" sz="1800"/>
              <a:t>: Quản lý tài liệu</a:t>
            </a:r>
            <a:endParaRPr lang="vi-VN" sz="1800"/>
          </a:p>
          <a:p>
            <a:pPr marL="542925" indent="-285750">
              <a:buFont typeface="Arial" panose="020B0604020202020204" pitchFamily="34" charset="0"/>
              <a:buChar char="•"/>
            </a:pPr>
            <a:r>
              <a:rPr lang="en-US" sz="1800" b="1"/>
              <a:t>R7</a:t>
            </a:r>
            <a:r>
              <a:rPr lang="en-US" sz="1800"/>
              <a:t>: Tìm kiếm và lọc dự án</a:t>
            </a:r>
            <a:endParaRPr lang="vi-VN" sz="1800"/>
          </a:p>
          <a:p>
            <a:pPr marL="542925" indent="-285750">
              <a:buFont typeface="Arial" panose="020B0604020202020204" pitchFamily="34" charset="0"/>
              <a:buChar char="•"/>
            </a:pPr>
            <a:r>
              <a:rPr lang="en-US" sz="1800" b="1"/>
              <a:t>R8</a:t>
            </a:r>
            <a:r>
              <a:rPr lang="en-US" sz="1800"/>
              <a:t>: Quản lý báo cáo, thống kê tiến độ dự án</a:t>
            </a:r>
            <a:endParaRPr lang="vi-VN" sz="1800"/>
          </a:p>
          <a:p>
            <a:pPr lvl="0"/>
            <a:r>
              <a:rPr lang="en-US" sz="1800" i="1"/>
              <a:t>- Yêu cầu chức năng cho thành viên</a:t>
            </a:r>
            <a:endParaRPr lang="vi-VN" sz="1800"/>
          </a:p>
          <a:p>
            <a:pPr marL="542925" indent="-285750">
              <a:buFont typeface="Arial" panose="020B0604020202020204" pitchFamily="34" charset="0"/>
              <a:buChar char="•"/>
            </a:pPr>
            <a:r>
              <a:rPr lang="en-US" sz="1800" b="1"/>
              <a:t>R9</a:t>
            </a:r>
            <a:r>
              <a:rPr lang="en-US" sz="1800"/>
              <a:t>: Quản lý công việc được giao</a:t>
            </a:r>
            <a:endParaRPr lang="vi-VN" sz="1800"/>
          </a:p>
          <a:p>
            <a:pPr marL="542925" indent="-285750">
              <a:buFont typeface="Arial" panose="020B0604020202020204" pitchFamily="34" charset="0"/>
              <a:buChar char="•"/>
            </a:pPr>
            <a:r>
              <a:rPr lang="en-US" sz="1800" b="1"/>
              <a:t>R10</a:t>
            </a:r>
            <a:r>
              <a:rPr lang="en-US" sz="1800"/>
              <a:t>: Tạo công việc theo dự án</a:t>
            </a:r>
            <a:endParaRPr lang="vi-VN" sz="1800"/>
          </a:p>
          <a:p>
            <a:pPr marL="542925" indent="-285750">
              <a:buFont typeface="Arial" panose="020B0604020202020204" pitchFamily="34" charset="0"/>
              <a:buChar char="•"/>
            </a:pPr>
            <a:r>
              <a:rPr lang="en-US" sz="1800" b="1"/>
              <a:t>R11:</a:t>
            </a:r>
            <a:r>
              <a:rPr lang="en-US" sz="1800"/>
              <a:t> Cập nhật tiến độ dự án</a:t>
            </a:r>
            <a:endParaRPr lang="vi-VN" sz="1800"/>
          </a:p>
          <a:p>
            <a:endParaRPr lang="vi-VN"/>
          </a:p>
        </p:txBody>
      </p:sp>
    </p:spTree>
    <p:extLst>
      <p:ext uri="{BB962C8B-B14F-4D97-AF65-F5344CB8AC3E}">
        <p14:creationId xmlns:p14="http://schemas.microsoft.com/office/powerpoint/2010/main" val="2992465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E4A2A0-AE70-A44A-7D91-B6B3888B43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r>
              <a:rPr lang="en-US"/>
              <a:t>/25</a:t>
            </a:r>
          </a:p>
        </p:txBody>
      </p:sp>
      <p:pic>
        <p:nvPicPr>
          <p:cNvPr id="3" name="Google Shape;36;g34d6361a527_5_0">
            <a:extLst>
              <a:ext uri="{FF2B5EF4-FFF2-40B4-BE49-F238E27FC236}">
                <a16:creationId xmlns:a16="http://schemas.microsoft.com/office/drawing/2014/main" id="{581F218A-1451-513B-01E9-B42040804500}"/>
              </a:ext>
            </a:extLst>
          </p:cNvPr>
          <p:cNvPicPr preferRelativeResize="0"/>
          <p:nvPr/>
        </p:nvPicPr>
        <p:blipFill rotWithShape="1">
          <a:blip r:embed="rId2">
            <a:alphaModFix/>
          </a:blip>
          <a:srcRect/>
          <a:stretch/>
        </p:blipFill>
        <p:spPr>
          <a:xfrm>
            <a:off x="10983558" y="158451"/>
            <a:ext cx="1016147" cy="638141"/>
          </a:xfrm>
          <a:prstGeom prst="rect">
            <a:avLst/>
          </a:prstGeom>
          <a:noFill/>
          <a:ln>
            <a:noFill/>
          </a:ln>
        </p:spPr>
      </p:pic>
      <p:cxnSp>
        <p:nvCxnSpPr>
          <p:cNvPr id="4" name="Google Shape;37;g34d6361a527_5_0">
            <a:extLst>
              <a:ext uri="{FF2B5EF4-FFF2-40B4-BE49-F238E27FC236}">
                <a16:creationId xmlns:a16="http://schemas.microsoft.com/office/drawing/2014/main" id="{4EC45F14-C7C3-7634-8534-C83EEEB2929E}"/>
              </a:ext>
            </a:extLst>
          </p:cNvPr>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5" name="Google Shape;38;g34d6361a527_5_0">
            <a:extLst>
              <a:ext uri="{FF2B5EF4-FFF2-40B4-BE49-F238E27FC236}">
                <a16:creationId xmlns:a16="http://schemas.microsoft.com/office/drawing/2014/main" id="{2905220B-F076-F4F8-B46C-20B1512A53FF}"/>
              </a:ext>
            </a:extLst>
          </p:cNvPr>
          <p:cNvSpPr txBox="1"/>
          <p:nvPr/>
        </p:nvSpPr>
        <p:spPr>
          <a:xfrm>
            <a:off x="765315" y="211063"/>
            <a:ext cx="9126900" cy="461700"/>
          </a:xfrm>
          <a:prstGeom prst="rect">
            <a:avLst/>
          </a:prstGeom>
          <a:noFill/>
          <a:ln>
            <a:noFill/>
          </a:ln>
        </p:spPr>
        <p:txBody>
          <a:bodyPr spcFirstLastPara="1" wrap="square" lIns="91425" tIns="45700" rIns="91425" bIns="45700" anchor="t" anchorCtr="0">
            <a:spAutoFit/>
          </a:bodyPr>
          <a:lstStyle/>
          <a:p>
            <a:pPr marL="76200" marR="0" lvl="0" algn="l" rtl="0">
              <a:lnSpc>
                <a:spcPct val="100000"/>
              </a:lnSpc>
              <a:spcBef>
                <a:spcPts val="0"/>
              </a:spcBef>
              <a:spcAft>
                <a:spcPts val="0"/>
              </a:spcAft>
              <a:buClr>
                <a:srgbClr val="0070C0"/>
              </a:buClr>
              <a:buSzPts val="2400"/>
            </a:pPr>
            <a:r>
              <a:rPr lang="en-US" sz="2400" b="1">
                <a:solidFill>
                  <a:srgbClr val="0070C0"/>
                </a:solidFill>
              </a:rPr>
              <a:t>5</a:t>
            </a:r>
            <a:r>
              <a:rPr lang="en-US" sz="2400" b="1" i="0" u="none" strike="noStrike" cap="none">
                <a:solidFill>
                  <a:srgbClr val="0070C0"/>
                </a:solidFill>
                <a:latin typeface="Arial"/>
                <a:ea typeface="Arial"/>
                <a:cs typeface="Arial"/>
                <a:sym typeface="Arial"/>
              </a:rPr>
              <a:t>. Xác định chức năng</a:t>
            </a:r>
            <a:endParaRPr sz="2400" b="1" i="0" u="none" strike="noStrike" cap="none" dirty="0">
              <a:solidFill>
                <a:srgbClr val="0070C0"/>
              </a:solidFill>
              <a:latin typeface="Arial"/>
              <a:ea typeface="Arial"/>
              <a:cs typeface="Arial"/>
              <a:sym typeface="Arial"/>
            </a:endParaRPr>
          </a:p>
        </p:txBody>
      </p:sp>
      <p:sp>
        <p:nvSpPr>
          <p:cNvPr id="8" name="TextBox 7">
            <a:extLst>
              <a:ext uri="{FF2B5EF4-FFF2-40B4-BE49-F238E27FC236}">
                <a16:creationId xmlns:a16="http://schemas.microsoft.com/office/drawing/2014/main" id="{1ECCB56F-6E2C-528C-76A4-517301CEC6BC}"/>
              </a:ext>
            </a:extLst>
          </p:cNvPr>
          <p:cNvSpPr txBox="1"/>
          <p:nvPr/>
        </p:nvSpPr>
        <p:spPr>
          <a:xfrm>
            <a:off x="2123700" y="1090379"/>
            <a:ext cx="6553199" cy="5078313"/>
          </a:xfrm>
          <a:prstGeom prst="rect">
            <a:avLst/>
          </a:prstGeom>
          <a:noFill/>
        </p:spPr>
        <p:txBody>
          <a:bodyPr wrap="square" rtlCol="0">
            <a:spAutoFit/>
          </a:bodyPr>
          <a:lstStyle/>
          <a:p>
            <a:r>
              <a:rPr lang="vi-VN" sz="1800" b="1"/>
              <a:t>Yêu cầu phi chức năng:</a:t>
            </a:r>
          </a:p>
          <a:p>
            <a:pPr marL="285750" indent="-285750">
              <a:buFont typeface="Arial" panose="020B0604020202020204" pitchFamily="34" charset="0"/>
              <a:buChar char="•"/>
            </a:pPr>
            <a:r>
              <a:rPr lang="vi-VN" sz="1800"/>
              <a:t>Hiệu năng: </a:t>
            </a:r>
          </a:p>
          <a:p>
            <a:pPr marL="631825" indent="-285750">
              <a:buFont typeface="Courier New" panose="02070309020205020404" pitchFamily="49" charset="0"/>
              <a:buChar char="o"/>
            </a:pPr>
            <a:r>
              <a:rPr lang="vi-VN" sz="1800"/>
              <a:t>R12: Phản hồi &lt; 5 giây.</a:t>
            </a:r>
          </a:p>
          <a:p>
            <a:pPr marL="631825" indent="-285750">
              <a:buFont typeface="Courier New" panose="02070309020205020404" pitchFamily="49" charset="0"/>
              <a:buChar char="o"/>
            </a:pPr>
            <a:r>
              <a:rPr lang="vi-VN" sz="1800"/>
              <a:t>R13: Không giật lag khi xử lý dữ liệu lớn . </a:t>
            </a:r>
          </a:p>
          <a:p>
            <a:pPr marL="285750" indent="-285750">
              <a:buFont typeface="Arial" panose="020B0604020202020204" pitchFamily="34" charset="0"/>
              <a:buChar char="•"/>
            </a:pPr>
            <a:r>
              <a:rPr lang="vi-VN" sz="1800"/>
              <a:t>Hữu dụng: </a:t>
            </a:r>
          </a:p>
          <a:p>
            <a:pPr marL="631825" indent="-285750">
              <a:buFont typeface="Courier New" panose="02070309020205020404" pitchFamily="49" charset="0"/>
              <a:buChar char="o"/>
            </a:pPr>
            <a:r>
              <a:rPr lang="vi-VN" sz="1800"/>
              <a:t>R14: Chức năng báo cáo dễ dùng, chính xác.    </a:t>
            </a:r>
          </a:p>
          <a:p>
            <a:pPr marL="285750" indent="-285750">
              <a:buFont typeface="Arial" panose="020B0604020202020204" pitchFamily="34" charset="0"/>
              <a:buChar char="•"/>
            </a:pPr>
            <a:r>
              <a:rPr lang="vi-VN" sz="1800"/>
              <a:t>Bảo mật: </a:t>
            </a:r>
          </a:p>
          <a:p>
            <a:pPr marL="631825" indent="-285750">
              <a:buFont typeface="Courier New" panose="02070309020205020404" pitchFamily="49" charset="0"/>
              <a:buChar char="o"/>
            </a:pPr>
            <a:r>
              <a:rPr lang="vi-VN" sz="1800"/>
              <a:t>R15: Phân quyền theo vai trò. </a:t>
            </a:r>
          </a:p>
          <a:p>
            <a:pPr marL="631825" indent="-285750">
              <a:buFont typeface="Courier New" panose="02070309020205020404" pitchFamily="49" charset="0"/>
              <a:buChar char="o"/>
            </a:pPr>
            <a:r>
              <a:rPr lang="vi-VN" sz="1800"/>
              <a:t>R16: Mã hóa mật khẩu (BCrypt).    </a:t>
            </a:r>
          </a:p>
          <a:p>
            <a:pPr marL="285750" indent="-285750">
              <a:buFont typeface="Arial" panose="020B0604020202020204" pitchFamily="34" charset="0"/>
              <a:buChar char="•"/>
            </a:pPr>
            <a:r>
              <a:rPr lang="vi-VN" sz="1800"/>
              <a:t>Tương thích: </a:t>
            </a:r>
          </a:p>
          <a:p>
            <a:pPr marL="631825" lvl="3" indent="-285750">
              <a:buFont typeface="Courier New" panose="02070309020205020404" pitchFamily="49" charset="0"/>
              <a:buChar char="o"/>
            </a:pPr>
            <a:r>
              <a:rPr lang="vi-VN" sz="1800"/>
              <a:t>R17: hoạt động ổn định trên trình duyệt phổ biến.</a:t>
            </a:r>
          </a:p>
          <a:p>
            <a:pPr marL="285750" indent="-285750">
              <a:buFont typeface="Arial" panose="020B0604020202020204" pitchFamily="34" charset="0"/>
              <a:buChar char="•"/>
            </a:pPr>
            <a:r>
              <a:rPr lang="vi-VN" sz="1800"/>
              <a:t>Bảo trì: </a:t>
            </a:r>
          </a:p>
          <a:p>
            <a:pPr marL="631825" indent="-285750">
              <a:buFont typeface="Courier New" panose="02070309020205020404" pitchFamily="49" charset="0"/>
              <a:buChar char="o"/>
            </a:pPr>
            <a:r>
              <a:rPr lang="vi-VN" sz="1800"/>
              <a:t>R18: Nâng cấp không mất dữ liệu, thông báo bảo trì.    </a:t>
            </a:r>
          </a:p>
          <a:p>
            <a:pPr marL="285750" indent="-285750">
              <a:buFont typeface="Arial" panose="020B0604020202020204" pitchFamily="34" charset="0"/>
              <a:buChar char="•"/>
            </a:pPr>
            <a:r>
              <a:rPr lang="vi-VN" sz="1800"/>
              <a:t>Khả chuyển: </a:t>
            </a:r>
          </a:p>
          <a:p>
            <a:pPr marL="631825" indent="-285750">
              <a:buFont typeface="Courier New" panose="02070309020205020404" pitchFamily="49" charset="0"/>
              <a:buChar char="o"/>
            </a:pPr>
            <a:r>
              <a:rPr lang="vi-VN" sz="1800"/>
              <a:t>R19: Dữ liệu có thể xuất/chuyển đổi.</a:t>
            </a:r>
          </a:p>
          <a:p>
            <a:pPr marL="285750" indent="-285750">
              <a:buFont typeface="Arial" panose="020B0604020202020204" pitchFamily="34" charset="0"/>
              <a:buChar char="•"/>
            </a:pPr>
            <a:r>
              <a:rPr lang="vi-VN" sz="1800"/>
              <a:t>Văn hóa: </a:t>
            </a:r>
          </a:p>
          <a:p>
            <a:pPr marL="631825" indent="-285750">
              <a:buFont typeface="Courier New" panose="02070309020205020404" pitchFamily="49" charset="0"/>
              <a:buChar char="o"/>
            </a:pPr>
            <a:r>
              <a:rPr lang="vi-VN" sz="1800"/>
              <a:t>R20: Giao diện phù hợp thương hiệu doanh nghiệp.</a:t>
            </a:r>
          </a:p>
          <a:p>
            <a:pPr marL="631825" indent="-285750">
              <a:buFont typeface="Courier New" panose="02070309020205020404" pitchFamily="49" charset="0"/>
              <a:buChar char="o"/>
            </a:pPr>
            <a:r>
              <a:rPr lang="vi-VN" sz="1800"/>
              <a:t>R21: Ngôn ngữ chính của hệ thống là tiếng Việt.</a:t>
            </a:r>
          </a:p>
        </p:txBody>
      </p:sp>
    </p:spTree>
    <p:extLst>
      <p:ext uri="{BB962C8B-B14F-4D97-AF65-F5344CB8AC3E}">
        <p14:creationId xmlns:p14="http://schemas.microsoft.com/office/powerpoint/2010/main" val="805862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4d6361a527_5_28"/>
          <p:cNvSpPr txBox="1"/>
          <p:nvPr/>
        </p:nvSpPr>
        <p:spPr>
          <a:xfrm>
            <a:off x="765315" y="211063"/>
            <a:ext cx="9902700" cy="461700"/>
          </a:xfrm>
          <a:prstGeom prst="rect">
            <a:avLst/>
          </a:prstGeom>
          <a:noFill/>
          <a:ln>
            <a:noFill/>
          </a:ln>
        </p:spPr>
        <p:txBody>
          <a:bodyPr spcFirstLastPara="1" wrap="square" lIns="91425" tIns="45700" rIns="91425" bIns="45700" anchor="t" anchorCtr="0">
            <a:spAutoFit/>
          </a:bodyPr>
          <a:lstStyle/>
          <a:p>
            <a:pPr marL="76200" marR="0" lvl="0" algn="l" rtl="0">
              <a:lnSpc>
                <a:spcPct val="100000"/>
              </a:lnSpc>
              <a:spcBef>
                <a:spcPts val="0"/>
              </a:spcBef>
              <a:spcAft>
                <a:spcPts val="0"/>
              </a:spcAft>
              <a:buClr>
                <a:schemeClr val="accent1"/>
              </a:buClr>
              <a:buSzPts val="2400"/>
            </a:pPr>
            <a:r>
              <a:rPr lang="en-US" sz="2400" b="1" i="0" u="none" strike="noStrike" cap="none">
                <a:solidFill>
                  <a:schemeClr val="accent1"/>
                </a:solidFill>
                <a:latin typeface="Arial"/>
                <a:ea typeface="Arial"/>
                <a:cs typeface="Arial"/>
                <a:sym typeface="Arial"/>
              </a:rPr>
              <a:t>6. Sơ đồ phân rã chức năng</a:t>
            </a:r>
            <a:endParaRPr sz="2400" b="1" i="0" u="none" strike="noStrike" cap="none" dirty="0">
              <a:solidFill>
                <a:schemeClr val="accent1"/>
              </a:solidFill>
              <a:latin typeface="Arial"/>
              <a:ea typeface="Arial"/>
              <a:cs typeface="Arial"/>
              <a:sym typeface="Arial"/>
            </a:endParaRPr>
          </a:p>
        </p:txBody>
      </p:sp>
      <p:pic>
        <p:nvPicPr>
          <p:cNvPr id="86" name="Google Shape;86;g34d6361a527_5_28"/>
          <p:cNvPicPr preferRelativeResize="0"/>
          <p:nvPr/>
        </p:nvPicPr>
        <p:blipFill rotWithShape="1">
          <a:blip r:embed="rId3">
            <a:alphaModFix/>
          </a:blip>
          <a:srcRect/>
          <a:stretch/>
        </p:blipFill>
        <p:spPr>
          <a:xfrm>
            <a:off x="10983558" y="158451"/>
            <a:ext cx="1016147" cy="638141"/>
          </a:xfrm>
          <a:prstGeom prst="rect">
            <a:avLst/>
          </a:prstGeom>
          <a:noFill/>
          <a:ln>
            <a:noFill/>
          </a:ln>
        </p:spPr>
      </p:pic>
      <p:sp>
        <p:nvSpPr>
          <p:cNvPr id="87" name="Google Shape;87;g34d6361a527_5_28"/>
          <p:cNvSpPr txBox="1">
            <a:spLocks noGrp="1"/>
          </p:cNvSpPr>
          <p:nvPr>
            <p:ph type="sldNum" idx="12"/>
          </p:nvPr>
        </p:nvSpPr>
        <p:spPr>
          <a:xfrm>
            <a:off x="9353910" y="6438301"/>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10</a:t>
            </a:fld>
            <a:endParaRPr>
              <a:solidFill>
                <a:schemeClr val="lt1"/>
              </a:solidFill>
            </a:endParaRPr>
          </a:p>
        </p:txBody>
      </p:sp>
      <p:cxnSp>
        <p:nvCxnSpPr>
          <p:cNvPr id="89" name="Google Shape;89;g34d6361a527_5_28"/>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pic>
        <p:nvPicPr>
          <p:cNvPr id="3" name="Picture 2" descr="A diagram of a company&#10;&#10;AI-generated content may be incorrect.">
            <a:extLst>
              <a:ext uri="{FF2B5EF4-FFF2-40B4-BE49-F238E27FC236}">
                <a16:creationId xmlns:a16="http://schemas.microsoft.com/office/drawing/2014/main" id="{16EF3DF0-E5BD-9B4E-CE31-554D168194EA}"/>
              </a:ext>
            </a:extLst>
          </p:cNvPr>
          <p:cNvPicPr>
            <a:picLocks noChangeAspect="1"/>
          </p:cNvPicPr>
          <p:nvPr/>
        </p:nvPicPr>
        <p:blipFill>
          <a:blip r:embed="rId4"/>
          <a:stretch>
            <a:fillRect/>
          </a:stretch>
        </p:blipFill>
        <p:spPr>
          <a:xfrm>
            <a:off x="1447800" y="936961"/>
            <a:ext cx="8912465" cy="53344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2"/>
          <p:cNvPicPr preferRelativeResize="0"/>
          <p:nvPr/>
        </p:nvPicPr>
        <p:blipFill rotWithShape="1">
          <a:blip r:embed="rId3">
            <a:alphaModFix/>
          </a:blip>
          <a:srcRect/>
          <a:stretch/>
        </p:blipFill>
        <p:spPr>
          <a:xfrm>
            <a:off x="10983558" y="158451"/>
            <a:ext cx="1016148" cy="638141"/>
          </a:xfrm>
          <a:prstGeom prst="rect">
            <a:avLst/>
          </a:prstGeom>
          <a:noFill/>
          <a:ln>
            <a:noFill/>
          </a:ln>
        </p:spPr>
      </p:pic>
      <p:cxnSp>
        <p:nvCxnSpPr>
          <p:cNvPr id="95" name="Google Shape;95;p2"/>
          <p:cNvCxnSpPr/>
          <p:nvPr/>
        </p:nvCxnSpPr>
        <p:spPr>
          <a:xfrm>
            <a:off x="0" y="839624"/>
            <a:ext cx="10800678" cy="0"/>
          </a:xfrm>
          <a:prstGeom prst="straightConnector1">
            <a:avLst/>
          </a:prstGeom>
          <a:noFill/>
          <a:ln w="28575" cap="flat" cmpd="sng">
            <a:solidFill>
              <a:schemeClr val="accent1"/>
            </a:solidFill>
            <a:prstDash val="solid"/>
            <a:miter lim="800000"/>
            <a:headEnd type="none" w="sm" len="sm"/>
            <a:tailEnd type="none" w="sm" len="sm"/>
          </a:ln>
        </p:spPr>
      </p:cxnSp>
      <p:sp>
        <p:nvSpPr>
          <p:cNvPr id="96" name="Google Shape;96;p2"/>
          <p:cNvSpPr txBox="1"/>
          <p:nvPr/>
        </p:nvSpPr>
        <p:spPr>
          <a:xfrm>
            <a:off x="685800" y="166152"/>
            <a:ext cx="738808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400" b="1" i="0" u="none" strike="noStrike" cap="none">
                <a:solidFill>
                  <a:srgbClr val="0070C0"/>
                </a:solidFill>
                <a:latin typeface="Arial"/>
                <a:ea typeface="Arial"/>
                <a:cs typeface="Arial"/>
                <a:sym typeface="Arial"/>
              </a:rPr>
              <a:t>7. Sơ đồ luồng dữ liệu (DFD) mức ngữ cảnh</a:t>
            </a:r>
            <a:endParaRPr sz="2400" b="1" i="0" u="none" strike="noStrike" cap="none" dirty="0">
              <a:solidFill>
                <a:srgbClr val="0070C0"/>
              </a:solidFill>
              <a:latin typeface="Arial"/>
              <a:ea typeface="Arial"/>
              <a:cs typeface="Arial"/>
              <a:sym typeface="Arial"/>
            </a:endParaRPr>
          </a:p>
        </p:txBody>
      </p:sp>
      <p:sp>
        <p:nvSpPr>
          <p:cNvPr id="97" name="Google Shape;97;p2"/>
          <p:cNvSpPr txBox="1">
            <a:spLocks noGrp="1"/>
          </p:cNvSpPr>
          <p:nvPr>
            <p:ph type="sldNum" idx="12"/>
          </p:nvPr>
        </p:nvSpPr>
        <p:spPr>
          <a:xfrm>
            <a:off x="9353910" y="6438301"/>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11</a:t>
            </a:fld>
            <a:endParaRPr>
              <a:solidFill>
                <a:schemeClr val="lt1"/>
              </a:solidFill>
            </a:endParaRPr>
          </a:p>
        </p:txBody>
      </p:sp>
      <p:pic>
        <p:nvPicPr>
          <p:cNvPr id="3" name="Picture 2" descr="A diagram of a computer&#10;&#10;AI-generated content may be incorrect.">
            <a:extLst>
              <a:ext uri="{FF2B5EF4-FFF2-40B4-BE49-F238E27FC236}">
                <a16:creationId xmlns:a16="http://schemas.microsoft.com/office/drawing/2014/main" id="{0F28DFB8-E546-7FBE-DA0C-ED7314ACABD6}"/>
              </a:ext>
            </a:extLst>
          </p:cNvPr>
          <p:cNvPicPr>
            <a:picLocks noChangeAspect="1"/>
          </p:cNvPicPr>
          <p:nvPr/>
        </p:nvPicPr>
        <p:blipFill>
          <a:blip r:embed="rId4"/>
          <a:stretch>
            <a:fillRect/>
          </a:stretch>
        </p:blipFill>
        <p:spPr>
          <a:xfrm>
            <a:off x="1716742" y="998538"/>
            <a:ext cx="8758515" cy="527094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g35432f09e69_0_41"/>
          <p:cNvPicPr preferRelativeResize="0"/>
          <p:nvPr/>
        </p:nvPicPr>
        <p:blipFill rotWithShape="1">
          <a:blip r:embed="rId3">
            <a:alphaModFix/>
          </a:blip>
          <a:srcRect/>
          <a:stretch/>
        </p:blipFill>
        <p:spPr>
          <a:xfrm>
            <a:off x="10983558" y="158451"/>
            <a:ext cx="1016147" cy="638141"/>
          </a:xfrm>
          <a:prstGeom prst="rect">
            <a:avLst/>
          </a:prstGeom>
          <a:noFill/>
          <a:ln>
            <a:noFill/>
          </a:ln>
        </p:spPr>
      </p:pic>
      <p:cxnSp>
        <p:nvCxnSpPr>
          <p:cNvPr id="115" name="Google Shape;115;g35432f09e69_0_41"/>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116" name="Google Shape;116;g35432f09e69_0_41"/>
          <p:cNvSpPr txBox="1">
            <a:spLocks noGrp="1"/>
          </p:cNvSpPr>
          <p:nvPr>
            <p:ph type="sldNum" idx="12"/>
          </p:nvPr>
        </p:nvSpPr>
        <p:spPr>
          <a:xfrm>
            <a:off x="9353910" y="6438301"/>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12</a:t>
            </a:fld>
            <a:endParaRPr>
              <a:solidFill>
                <a:schemeClr val="lt1"/>
              </a:solidFill>
            </a:endParaRPr>
          </a:p>
        </p:txBody>
      </p:sp>
      <p:sp>
        <p:nvSpPr>
          <p:cNvPr id="117" name="Google Shape;117;g35432f09e69_0_41"/>
          <p:cNvSpPr txBox="1"/>
          <p:nvPr/>
        </p:nvSpPr>
        <p:spPr>
          <a:xfrm>
            <a:off x="765315" y="211063"/>
            <a:ext cx="91269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a:solidFill>
                  <a:schemeClr val="accent1"/>
                </a:solidFill>
              </a:rPr>
              <a:t>8. Sơ đồ luồng dữ liệu (DFD) mức đỉnh</a:t>
            </a:r>
            <a:endParaRPr lang="vi-VN" dirty="0"/>
          </a:p>
        </p:txBody>
      </p:sp>
      <p:pic>
        <p:nvPicPr>
          <p:cNvPr id="4" name="Picture 3">
            <a:extLst>
              <a:ext uri="{FF2B5EF4-FFF2-40B4-BE49-F238E27FC236}">
                <a16:creationId xmlns:a16="http://schemas.microsoft.com/office/drawing/2014/main" id="{49D59AC7-6FA4-240C-20FE-77BFAFB7B77C}"/>
              </a:ext>
            </a:extLst>
          </p:cNvPr>
          <p:cNvPicPr>
            <a:picLocks noChangeAspect="1"/>
          </p:cNvPicPr>
          <p:nvPr/>
        </p:nvPicPr>
        <p:blipFill>
          <a:blip r:embed="rId4"/>
          <a:stretch>
            <a:fillRect/>
          </a:stretch>
        </p:blipFill>
        <p:spPr>
          <a:xfrm>
            <a:off x="2066405" y="882344"/>
            <a:ext cx="8059189" cy="54320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cxnSp>
        <p:nvCxnSpPr>
          <p:cNvPr id="238" name="Google Shape;238;g34d6361a527_0_162"/>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239" name="Google Shape;239;g34d6361a527_0_162"/>
          <p:cNvSpPr txBox="1">
            <a:spLocks noGrp="1"/>
          </p:cNvSpPr>
          <p:nvPr>
            <p:ph type="sldNum" idx="12"/>
          </p:nvPr>
        </p:nvSpPr>
        <p:spPr>
          <a:xfrm>
            <a:off x="9353910" y="6438301"/>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smtClean="0">
                <a:solidFill>
                  <a:schemeClr val="lt1"/>
                </a:solidFill>
              </a:rPr>
              <a:t>13</a:t>
            </a:fld>
            <a:endParaRPr>
              <a:solidFill>
                <a:schemeClr val="lt1"/>
              </a:solidFill>
            </a:endParaRPr>
          </a:p>
        </p:txBody>
      </p:sp>
      <p:sp>
        <p:nvSpPr>
          <p:cNvPr id="240" name="Google Shape;240;g34d6361a527_0_162"/>
          <p:cNvSpPr txBox="1"/>
          <p:nvPr/>
        </p:nvSpPr>
        <p:spPr>
          <a:xfrm>
            <a:off x="762000" y="230123"/>
            <a:ext cx="91269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a:solidFill>
                  <a:schemeClr val="accent1"/>
                </a:solidFill>
              </a:rPr>
              <a:t>9. Sơ đồ luồng dữ liệu (DFD) mức dưới đỉnh</a:t>
            </a:r>
            <a:endParaRPr lang="vi-VN" sz="2400" dirty="0"/>
          </a:p>
        </p:txBody>
      </p:sp>
      <p:sp>
        <p:nvSpPr>
          <p:cNvPr id="5" name="TextBox 4">
            <a:extLst>
              <a:ext uri="{FF2B5EF4-FFF2-40B4-BE49-F238E27FC236}">
                <a16:creationId xmlns:a16="http://schemas.microsoft.com/office/drawing/2014/main" id="{5A26FDAD-7536-6177-87AF-BA3A0286652B}"/>
              </a:ext>
            </a:extLst>
          </p:cNvPr>
          <p:cNvSpPr txBox="1"/>
          <p:nvPr/>
        </p:nvSpPr>
        <p:spPr>
          <a:xfrm>
            <a:off x="1905000" y="5269468"/>
            <a:ext cx="2771913" cy="369332"/>
          </a:xfrm>
          <a:prstGeom prst="rect">
            <a:avLst/>
          </a:prstGeom>
          <a:noFill/>
        </p:spPr>
        <p:txBody>
          <a:bodyPr wrap="none" rtlCol="0">
            <a:spAutoFit/>
          </a:bodyPr>
          <a:lstStyle/>
          <a:p>
            <a:r>
              <a:rPr lang="en-US" sz="1800"/>
              <a:t>DFD Quản lý người dùng</a:t>
            </a:r>
            <a:endParaRPr lang="vi-VN" sz="1800"/>
          </a:p>
        </p:txBody>
      </p:sp>
      <p:sp>
        <p:nvSpPr>
          <p:cNvPr id="6" name="TextBox 5">
            <a:extLst>
              <a:ext uri="{FF2B5EF4-FFF2-40B4-BE49-F238E27FC236}">
                <a16:creationId xmlns:a16="http://schemas.microsoft.com/office/drawing/2014/main" id="{EF3D751E-E486-0D82-6947-F260D70121B3}"/>
              </a:ext>
            </a:extLst>
          </p:cNvPr>
          <p:cNvSpPr txBox="1"/>
          <p:nvPr/>
        </p:nvSpPr>
        <p:spPr>
          <a:xfrm>
            <a:off x="7315200" y="5269468"/>
            <a:ext cx="3621504" cy="369332"/>
          </a:xfrm>
          <a:prstGeom prst="rect">
            <a:avLst/>
          </a:prstGeom>
          <a:noFill/>
        </p:spPr>
        <p:txBody>
          <a:bodyPr wrap="none" rtlCol="0">
            <a:spAutoFit/>
          </a:bodyPr>
          <a:lstStyle/>
          <a:p>
            <a:r>
              <a:rPr lang="en-US" sz="1800"/>
              <a:t>DFD Quản lý không gian làm việc</a:t>
            </a:r>
            <a:endParaRPr lang="vi-VN" sz="1800"/>
          </a:p>
        </p:txBody>
      </p:sp>
      <p:pic>
        <p:nvPicPr>
          <p:cNvPr id="2" name="Picture 1" descr="A diagram of a flowchart&#10;&#10;AI-generated content may be incorrect.">
            <a:extLst>
              <a:ext uri="{FF2B5EF4-FFF2-40B4-BE49-F238E27FC236}">
                <a16:creationId xmlns:a16="http://schemas.microsoft.com/office/drawing/2014/main" id="{5281E8F7-6C94-7BEA-EB36-EC220A670804}"/>
              </a:ext>
            </a:extLst>
          </p:cNvPr>
          <p:cNvPicPr>
            <a:picLocks noChangeAspect="1"/>
          </p:cNvPicPr>
          <p:nvPr/>
        </p:nvPicPr>
        <p:blipFill>
          <a:blip r:embed="rId3"/>
          <a:stretch>
            <a:fillRect/>
          </a:stretch>
        </p:blipFill>
        <p:spPr>
          <a:xfrm>
            <a:off x="762000" y="1123697"/>
            <a:ext cx="4935569" cy="4065507"/>
          </a:xfrm>
          <a:prstGeom prst="rect">
            <a:avLst/>
          </a:prstGeom>
        </p:spPr>
      </p:pic>
      <p:pic>
        <p:nvPicPr>
          <p:cNvPr id="7" name="Picture 6" descr="A diagram of a flowchart&#10;&#10;AI-generated content may be incorrect.">
            <a:extLst>
              <a:ext uri="{FF2B5EF4-FFF2-40B4-BE49-F238E27FC236}">
                <a16:creationId xmlns:a16="http://schemas.microsoft.com/office/drawing/2014/main" id="{69D068A7-BA19-1509-1481-7F4449BAEAED}"/>
              </a:ext>
            </a:extLst>
          </p:cNvPr>
          <p:cNvPicPr>
            <a:picLocks noChangeAspect="1"/>
          </p:cNvPicPr>
          <p:nvPr/>
        </p:nvPicPr>
        <p:blipFill>
          <a:blip r:embed="rId4"/>
          <a:stretch>
            <a:fillRect/>
          </a:stretch>
        </p:blipFill>
        <p:spPr>
          <a:xfrm>
            <a:off x="5943600" y="1123696"/>
            <a:ext cx="5369624" cy="40655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5" name="Google Shape;155;p6"/>
          <p:cNvPicPr preferRelativeResize="0"/>
          <p:nvPr/>
        </p:nvPicPr>
        <p:blipFill rotWithShape="1">
          <a:blip r:embed="rId3">
            <a:alphaModFix/>
          </a:blip>
          <a:srcRect/>
          <a:stretch/>
        </p:blipFill>
        <p:spPr>
          <a:xfrm>
            <a:off x="10983558" y="158451"/>
            <a:ext cx="1016147" cy="638141"/>
          </a:xfrm>
          <a:prstGeom prst="rect">
            <a:avLst/>
          </a:prstGeom>
          <a:noFill/>
          <a:ln>
            <a:noFill/>
          </a:ln>
        </p:spPr>
      </p:pic>
      <p:sp>
        <p:nvSpPr>
          <p:cNvPr id="156" name="Google Shape;156;p6"/>
          <p:cNvSpPr txBox="1">
            <a:spLocks noGrp="1"/>
          </p:cNvSpPr>
          <p:nvPr>
            <p:ph type="sldNum" idx="12"/>
          </p:nvPr>
        </p:nvSpPr>
        <p:spPr>
          <a:xfrm>
            <a:off x="9353910" y="6438301"/>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14</a:t>
            </a:fld>
            <a:endParaRPr>
              <a:solidFill>
                <a:schemeClr val="lt1"/>
              </a:solidFill>
            </a:endParaRPr>
          </a:p>
        </p:txBody>
      </p:sp>
      <p:cxnSp>
        <p:nvCxnSpPr>
          <p:cNvPr id="158" name="Google Shape;158;p6"/>
          <p:cNvCxnSpPr/>
          <p:nvPr/>
        </p:nvCxnSpPr>
        <p:spPr>
          <a:xfrm>
            <a:off x="0" y="839624"/>
            <a:ext cx="10800678" cy="0"/>
          </a:xfrm>
          <a:prstGeom prst="straightConnector1">
            <a:avLst/>
          </a:prstGeom>
          <a:noFill/>
          <a:ln w="28575" cap="flat" cmpd="sng">
            <a:solidFill>
              <a:schemeClr val="accent1"/>
            </a:solidFill>
            <a:prstDash val="solid"/>
            <a:miter lim="800000"/>
            <a:headEnd type="none" w="sm" len="sm"/>
            <a:tailEnd type="none" w="sm" len="sm"/>
          </a:ln>
        </p:spPr>
      </p:cxnSp>
      <p:sp>
        <p:nvSpPr>
          <p:cNvPr id="2" name="Google Shape;240;g34d6361a527_0_162">
            <a:extLst>
              <a:ext uri="{FF2B5EF4-FFF2-40B4-BE49-F238E27FC236}">
                <a16:creationId xmlns:a16="http://schemas.microsoft.com/office/drawing/2014/main" id="{AD4F4417-93A7-9DB0-9150-59812AAE3A1F}"/>
              </a:ext>
            </a:extLst>
          </p:cNvPr>
          <p:cNvSpPr txBox="1"/>
          <p:nvPr/>
        </p:nvSpPr>
        <p:spPr>
          <a:xfrm>
            <a:off x="762000" y="230123"/>
            <a:ext cx="91269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a:solidFill>
                  <a:schemeClr val="accent1"/>
                </a:solidFill>
              </a:rPr>
              <a:t>9. Sơ đồ luồng dữ liệu (DFD) mức dưới đỉnh</a:t>
            </a:r>
            <a:endParaRPr lang="vi-VN" sz="2400" dirty="0"/>
          </a:p>
        </p:txBody>
      </p:sp>
      <p:sp>
        <p:nvSpPr>
          <p:cNvPr id="5" name="TextBox 4">
            <a:extLst>
              <a:ext uri="{FF2B5EF4-FFF2-40B4-BE49-F238E27FC236}">
                <a16:creationId xmlns:a16="http://schemas.microsoft.com/office/drawing/2014/main" id="{05CCF928-3300-6DE3-0286-A7C4D03C47E9}"/>
              </a:ext>
            </a:extLst>
          </p:cNvPr>
          <p:cNvSpPr txBox="1"/>
          <p:nvPr/>
        </p:nvSpPr>
        <p:spPr>
          <a:xfrm>
            <a:off x="2057039" y="5269468"/>
            <a:ext cx="2185214" cy="369332"/>
          </a:xfrm>
          <a:prstGeom prst="rect">
            <a:avLst/>
          </a:prstGeom>
          <a:noFill/>
        </p:spPr>
        <p:txBody>
          <a:bodyPr wrap="none" rtlCol="0">
            <a:spAutoFit/>
          </a:bodyPr>
          <a:lstStyle/>
          <a:p>
            <a:r>
              <a:rPr lang="en-US" sz="1800"/>
              <a:t>DFD Quản lý dự án</a:t>
            </a:r>
            <a:endParaRPr lang="vi-VN" sz="1800"/>
          </a:p>
        </p:txBody>
      </p:sp>
      <p:sp>
        <p:nvSpPr>
          <p:cNvPr id="6" name="TextBox 5">
            <a:extLst>
              <a:ext uri="{FF2B5EF4-FFF2-40B4-BE49-F238E27FC236}">
                <a16:creationId xmlns:a16="http://schemas.microsoft.com/office/drawing/2014/main" id="{E2557629-0AC2-85D5-5EF1-D75105DA5954}"/>
              </a:ext>
            </a:extLst>
          </p:cNvPr>
          <p:cNvSpPr txBox="1"/>
          <p:nvPr/>
        </p:nvSpPr>
        <p:spPr>
          <a:xfrm>
            <a:off x="7949749" y="5421869"/>
            <a:ext cx="2557110" cy="369332"/>
          </a:xfrm>
          <a:prstGeom prst="rect">
            <a:avLst/>
          </a:prstGeom>
          <a:noFill/>
        </p:spPr>
        <p:txBody>
          <a:bodyPr wrap="none" rtlCol="0">
            <a:spAutoFit/>
          </a:bodyPr>
          <a:lstStyle/>
          <a:p>
            <a:r>
              <a:rPr lang="en-US" sz="1800"/>
              <a:t>DFD Quản lý công việc</a:t>
            </a:r>
            <a:endParaRPr lang="vi-VN" sz="1800"/>
          </a:p>
        </p:txBody>
      </p:sp>
      <p:pic>
        <p:nvPicPr>
          <p:cNvPr id="7" name="Picture 6" descr="A diagram of a flowchart&#10;&#10;AI-generated content may be incorrect.">
            <a:extLst>
              <a:ext uri="{FF2B5EF4-FFF2-40B4-BE49-F238E27FC236}">
                <a16:creationId xmlns:a16="http://schemas.microsoft.com/office/drawing/2014/main" id="{D4BAC603-6CA5-0C61-E13B-EC0A527CA9D7}"/>
              </a:ext>
            </a:extLst>
          </p:cNvPr>
          <p:cNvPicPr>
            <a:picLocks noChangeAspect="1"/>
          </p:cNvPicPr>
          <p:nvPr/>
        </p:nvPicPr>
        <p:blipFill>
          <a:blip r:embed="rId4"/>
          <a:stretch>
            <a:fillRect/>
          </a:stretch>
        </p:blipFill>
        <p:spPr>
          <a:xfrm>
            <a:off x="685800" y="1226380"/>
            <a:ext cx="4903938" cy="4043081"/>
          </a:xfrm>
          <a:prstGeom prst="rect">
            <a:avLst/>
          </a:prstGeom>
        </p:spPr>
      </p:pic>
      <p:pic>
        <p:nvPicPr>
          <p:cNvPr id="8" name="Picture 7" descr="A diagram of a diagram&#10;&#10;AI-generated content may be incorrect.">
            <a:extLst>
              <a:ext uri="{FF2B5EF4-FFF2-40B4-BE49-F238E27FC236}">
                <a16:creationId xmlns:a16="http://schemas.microsoft.com/office/drawing/2014/main" id="{0095A7BE-8AFF-03FD-02F3-E4887B04C50E}"/>
              </a:ext>
            </a:extLst>
          </p:cNvPr>
          <p:cNvPicPr>
            <a:picLocks noChangeAspect="1"/>
          </p:cNvPicPr>
          <p:nvPr/>
        </p:nvPicPr>
        <p:blipFill>
          <a:blip r:embed="rId5"/>
          <a:stretch>
            <a:fillRect/>
          </a:stretch>
        </p:blipFill>
        <p:spPr>
          <a:xfrm>
            <a:off x="5916444" y="1256859"/>
            <a:ext cx="5728085" cy="40125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7" name="Google Shape;167;g34d6361a527_0_50"/>
          <p:cNvPicPr preferRelativeResize="0"/>
          <p:nvPr/>
        </p:nvPicPr>
        <p:blipFill rotWithShape="1">
          <a:blip r:embed="rId3">
            <a:alphaModFix/>
          </a:blip>
          <a:srcRect/>
          <a:stretch/>
        </p:blipFill>
        <p:spPr>
          <a:xfrm>
            <a:off x="10983558" y="158451"/>
            <a:ext cx="1016147" cy="638141"/>
          </a:xfrm>
          <a:prstGeom prst="rect">
            <a:avLst/>
          </a:prstGeom>
          <a:noFill/>
          <a:ln>
            <a:noFill/>
          </a:ln>
        </p:spPr>
      </p:pic>
      <p:sp>
        <p:nvSpPr>
          <p:cNvPr id="168" name="Google Shape;168;g34d6361a527_0_50"/>
          <p:cNvSpPr txBox="1">
            <a:spLocks noGrp="1"/>
          </p:cNvSpPr>
          <p:nvPr>
            <p:ph type="sldNum" idx="12"/>
          </p:nvPr>
        </p:nvSpPr>
        <p:spPr>
          <a:xfrm>
            <a:off x="9353910" y="6438301"/>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15</a:t>
            </a:fld>
            <a:endParaRPr>
              <a:solidFill>
                <a:schemeClr val="lt1"/>
              </a:solidFill>
            </a:endParaRPr>
          </a:p>
        </p:txBody>
      </p:sp>
      <p:cxnSp>
        <p:nvCxnSpPr>
          <p:cNvPr id="170" name="Google Shape;170;g34d6361a527_0_50"/>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2" name="Google Shape;240;g34d6361a527_0_162">
            <a:extLst>
              <a:ext uri="{FF2B5EF4-FFF2-40B4-BE49-F238E27FC236}">
                <a16:creationId xmlns:a16="http://schemas.microsoft.com/office/drawing/2014/main" id="{17D57473-8941-33C5-CE01-204B8A5D2441}"/>
              </a:ext>
            </a:extLst>
          </p:cNvPr>
          <p:cNvSpPr txBox="1"/>
          <p:nvPr/>
        </p:nvSpPr>
        <p:spPr>
          <a:xfrm>
            <a:off x="762000" y="230123"/>
            <a:ext cx="91269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a:solidFill>
                  <a:schemeClr val="accent1"/>
                </a:solidFill>
              </a:rPr>
              <a:t>9. Sơ đồ luồng dữ liệu (DFD) mức dưới đỉnh</a:t>
            </a:r>
            <a:endParaRPr lang="vi-VN" sz="2400" dirty="0"/>
          </a:p>
        </p:txBody>
      </p:sp>
      <p:sp>
        <p:nvSpPr>
          <p:cNvPr id="6" name="TextBox 5">
            <a:extLst>
              <a:ext uri="{FF2B5EF4-FFF2-40B4-BE49-F238E27FC236}">
                <a16:creationId xmlns:a16="http://schemas.microsoft.com/office/drawing/2014/main" id="{969D39A7-FBD3-6849-6C8F-8238F19F3484}"/>
              </a:ext>
            </a:extLst>
          </p:cNvPr>
          <p:cNvSpPr txBox="1"/>
          <p:nvPr/>
        </p:nvSpPr>
        <p:spPr>
          <a:xfrm>
            <a:off x="1066800" y="4227506"/>
            <a:ext cx="2569934" cy="369332"/>
          </a:xfrm>
          <a:prstGeom prst="rect">
            <a:avLst/>
          </a:prstGeom>
          <a:noFill/>
        </p:spPr>
        <p:txBody>
          <a:bodyPr wrap="none" rtlCol="0">
            <a:spAutoFit/>
          </a:bodyPr>
          <a:lstStyle/>
          <a:p>
            <a:r>
              <a:rPr lang="en-US" sz="1800"/>
              <a:t>DFD Lịch sử hoạt động</a:t>
            </a:r>
            <a:endParaRPr lang="vi-VN" sz="1800"/>
          </a:p>
        </p:txBody>
      </p:sp>
      <p:sp>
        <p:nvSpPr>
          <p:cNvPr id="7" name="TextBox 6">
            <a:extLst>
              <a:ext uri="{FF2B5EF4-FFF2-40B4-BE49-F238E27FC236}">
                <a16:creationId xmlns:a16="http://schemas.microsoft.com/office/drawing/2014/main" id="{E93DAAF3-DF40-C102-5E84-301ABA68E5CD}"/>
              </a:ext>
            </a:extLst>
          </p:cNvPr>
          <p:cNvSpPr txBox="1"/>
          <p:nvPr/>
        </p:nvSpPr>
        <p:spPr>
          <a:xfrm>
            <a:off x="4419600" y="2791732"/>
            <a:ext cx="2518638" cy="369332"/>
          </a:xfrm>
          <a:prstGeom prst="rect">
            <a:avLst/>
          </a:prstGeom>
          <a:noFill/>
        </p:spPr>
        <p:txBody>
          <a:bodyPr wrap="none" rtlCol="0">
            <a:spAutoFit/>
          </a:bodyPr>
          <a:lstStyle/>
          <a:p>
            <a:r>
              <a:rPr lang="en-US" sz="1800"/>
              <a:t>DFD Báo cáo thống kê</a:t>
            </a:r>
            <a:endParaRPr lang="vi-VN" sz="1800"/>
          </a:p>
        </p:txBody>
      </p:sp>
      <p:sp>
        <p:nvSpPr>
          <p:cNvPr id="8" name="TextBox 7">
            <a:extLst>
              <a:ext uri="{FF2B5EF4-FFF2-40B4-BE49-F238E27FC236}">
                <a16:creationId xmlns:a16="http://schemas.microsoft.com/office/drawing/2014/main" id="{B1036EEF-FE8D-35CF-21C9-85B7D388DCF7}"/>
              </a:ext>
            </a:extLst>
          </p:cNvPr>
          <p:cNvSpPr txBox="1"/>
          <p:nvPr/>
        </p:nvSpPr>
        <p:spPr>
          <a:xfrm>
            <a:off x="8629581" y="4412172"/>
            <a:ext cx="2249334" cy="369332"/>
          </a:xfrm>
          <a:prstGeom prst="rect">
            <a:avLst/>
          </a:prstGeom>
          <a:noFill/>
        </p:spPr>
        <p:txBody>
          <a:bodyPr wrap="none" rtlCol="0">
            <a:spAutoFit/>
          </a:bodyPr>
          <a:lstStyle/>
          <a:p>
            <a:r>
              <a:rPr lang="en-US" sz="1800"/>
              <a:t>DFD Quản lý tài liệu</a:t>
            </a:r>
            <a:endParaRPr lang="vi-VN" sz="1800"/>
          </a:p>
        </p:txBody>
      </p:sp>
      <p:pic>
        <p:nvPicPr>
          <p:cNvPr id="9" name="Picture 8" descr="A diagram of a flowchart&#10;&#10;AI-generated content may be incorrect.">
            <a:extLst>
              <a:ext uri="{FF2B5EF4-FFF2-40B4-BE49-F238E27FC236}">
                <a16:creationId xmlns:a16="http://schemas.microsoft.com/office/drawing/2014/main" id="{25E8BD18-9B33-2FE2-7121-2DF92EB6719A}"/>
              </a:ext>
            </a:extLst>
          </p:cNvPr>
          <p:cNvPicPr>
            <a:picLocks noChangeAspect="1"/>
          </p:cNvPicPr>
          <p:nvPr/>
        </p:nvPicPr>
        <p:blipFill>
          <a:blip r:embed="rId4"/>
          <a:stretch>
            <a:fillRect/>
          </a:stretch>
        </p:blipFill>
        <p:spPr>
          <a:xfrm>
            <a:off x="57133" y="876950"/>
            <a:ext cx="4396740" cy="3127375"/>
          </a:xfrm>
          <a:prstGeom prst="rect">
            <a:avLst/>
          </a:prstGeom>
        </p:spPr>
      </p:pic>
      <p:pic>
        <p:nvPicPr>
          <p:cNvPr id="10" name="Picture 9" descr="A diagram of a flowchart&#10;&#10;AI-generated content may be incorrect.">
            <a:extLst>
              <a:ext uri="{FF2B5EF4-FFF2-40B4-BE49-F238E27FC236}">
                <a16:creationId xmlns:a16="http://schemas.microsoft.com/office/drawing/2014/main" id="{9B23B391-F75C-F6A0-6985-E0F9F5E483AA}"/>
              </a:ext>
            </a:extLst>
          </p:cNvPr>
          <p:cNvPicPr>
            <a:picLocks noChangeAspect="1"/>
          </p:cNvPicPr>
          <p:nvPr/>
        </p:nvPicPr>
        <p:blipFill>
          <a:blip r:embed="rId5"/>
          <a:stretch>
            <a:fillRect/>
          </a:stretch>
        </p:blipFill>
        <p:spPr>
          <a:xfrm>
            <a:off x="7690065" y="922166"/>
            <a:ext cx="4466798" cy="3152079"/>
          </a:xfrm>
          <a:prstGeom prst="rect">
            <a:avLst/>
          </a:prstGeom>
        </p:spPr>
      </p:pic>
      <p:pic>
        <p:nvPicPr>
          <p:cNvPr id="11" name="Picture 10" descr="A diagram of a company&#10;&#10;AI-generated content may be incorrect.">
            <a:extLst>
              <a:ext uri="{FF2B5EF4-FFF2-40B4-BE49-F238E27FC236}">
                <a16:creationId xmlns:a16="http://schemas.microsoft.com/office/drawing/2014/main" id="{FDAC76A1-86F6-9D1C-FDAF-BE45EF5E1343}"/>
              </a:ext>
            </a:extLst>
          </p:cNvPr>
          <p:cNvPicPr>
            <a:picLocks noChangeAspect="1"/>
          </p:cNvPicPr>
          <p:nvPr/>
        </p:nvPicPr>
        <p:blipFill>
          <a:blip r:embed="rId6"/>
          <a:stretch>
            <a:fillRect/>
          </a:stretch>
        </p:blipFill>
        <p:spPr>
          <a:xfrm>
            <a:off x="4479275" y="3285519"/>
            <a:ext cx="3185388" cy="318970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828E0F-79B2-E13F-50A9-8A5F2DE6C4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solidFill>
                  <a:schemeClr val="bg1"/>
                </a:solidFill>
              </a:rPr>
              <a:t>16</a:t>
            </a:fld>
            <a:endParaRPr lang="en-US">
              <a:solidFill>
                <a:schemeClr val="bg1"/>
              </a:solidFill>
            </a:endParaRPr>
          </a:p>
        </p:txBody>
      </p:sp>
      <p:pic>
        <p:nvPicPr>
          <p:cNvPr id="3" name="Google Shape;167;g34d6361a527_0_50">
            <a:extLst>
              <a:ext uri="{FF2B5EF4-FFF2-40B4-BE49-F238E27FC236}">
                <a16:creationId xmlns:a16="http://schemas.microsoft.com/office/drawing/2014/main" id="{8DBCDC93-7763-6977-D23E-EFA6C6D7EB9F}"/>
              </a:ext>
            </a:extLst>
          </p:cNvPr>
          <p:cNvPicPr preferRelativeResize="0"/>
          <p:nvPr/>
        </p:nvPicPr>
        <p:blipFill rotWithShape="1">
          <a:blip r:embed="rId2">
            <a:alphaModFix/>
          </a:blip>
          <a:srcRect/>
          <a:stretch/>
        </p:blipFill>
        <p:spPr>
          <a:xfrm>
            <a:off x="10983558" y="158451"/>
            <a:ext cx="1016147" cy="638141"/>
          </a:xfrm>
          <a:prstGeom prst="rect">
            <a:avLst/>
          </a:prstGeom>
          <a:noFill/>
          <a:ln>
            <a:noFill/>
          </a:ln>
        </p:spPr>
      </p:pic>
      <p:cxnSp>
        <p:nvCxnSpPr>
          <p:cNvPr id="4" name="Google Shape;170;g34d6361a527_0_50">
            <a:extLst>
              <a:ext uri="{FF2B5EF4-FFF2-40B4-BE49-F238E27FC236}">
                <a16:creationId xmlns:a16="http://schemas.microsoft.com/office/drawing/2014/main" id="{DA266688-7DEE-7A72-9E94-6471CA111325}"/>
              </a:ext>
            </a:extLst>
          </p:cNvPr>
          <p:cNvCxnSpPr/>
          <p:nvPr/>
        </p:nvCxnSpPr>
        <p:spPr>
          <a:xfrm>
            <a:off x="0" y="839624"/>
            <a:ext cx="10800600" cy="0"/>
          </a:xfrm>
          <a:prstGeom prst="straightConnector1">
            <a:avLst/>
          </a:prstGeom>
          <a:noFill/>
          <a:ln w="28575" cap="flat" cmpd="sng">
            <a:solidFill>
              <a:schemeClr val="accent1"/>
            </a:solidFill>
            <a:prstDash val="solid"/>
            <a:miter lim="800000"/>
            <a:headEnd type="none" w="sm" len="sm"/>
            <a:tailEnd type="none" w="sm" len="sm"/>
          </a:ln>
        </p:spPr>
      </p:cxnSp>
      <p:sp>
        <p:nvSpPr>
          <p:cNvPr id="5" name="Google Shape;240;g34d6361a527_0_162">
            <a:extLst>
              <a:ext uri="{FF2B5EF4-FFF2-40B4-BE49-F238E27FC236}">
                <a16:creationId xmlns:a16="http://schemas.microsoft.com/office/drawing/2014/main" id="{A8CDCF17-97EB-E173-B34D-CA632A3F3B0D}"/>
              </a:ext>
            </a:extLst>
          </p:cNvPr>
          <p:cNvSpPr txBox="1"/>
          <p:nvPr/>
        </p:nvSpPr>
        <p:spPr>
          <a:xfrm>
            <a:off x="762000" y="230123"/>
            <a:ext cx="91269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a:solidFill>
                  <a:schemeClr val="accent1"/>
                </a:solidFill>
              </a:rPr>
              <a:t>10. Sơ đồ ERD</a:t>
            </a:r>
            <a:endParaRPr lang="vi-VN" sz="2400" dirty="0"/>
          </a:p>
        </p:txBody>
      </p:sp>
      <p:pic>
        <p:nvPicPr>
          <p:cNvPr id="6" name="Picture 5" descr="A diagram of a computer&#10;&#10;AI-generated content may be incorrect.">
            <a:extLst>
              <a:ext uri="{FF2B5EF4-FFF2-40B4-BE49-F238E27FC236}">
                <a16:creationId xmlns:a16="http://schemas.microsoft.com/office/drawing/2014/main" id="{4D1535E8-F053-D7C1-5E7E-C49D118150A8}"/>
              </a:ext>
            </a:extLst>
          </p:cNvPr>
          <p:cNvPicPr>
            <a:picLocks noChangeAspect="1"/>
          </p:cNvPicPr>
          <p:nvPr/>
        </p:nvPicPr>
        <p:blipFill>
          <a:blip r:embed="rId3"/>
          <a:stretch>
            <a:fillRect/>
          </a:stretch>
        </p:blipFill>
        <p:spPr>
          <a:xfrm>
            <a:off x="2552700" y="958851"/>
            <a:ext cx="7086600" cy="5159375"/>
          </a:xfrm>
          <a:prstGeom prst="rect">
            <a:avLst/>
          </a:prstGeom>
        </p:spPr>
      </p:pic>
    </p:spTree>
    <p:extLst>
      <p:ext uri="{BB962C8B-B14F-4D97-AF65-F5344CB8AC3E}">
        <p14:creationId xmlns:p14="http://schemas.microsoft.com/office/powerpoint/2010/main" val="599106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pic>
        <p:nvPicPr>
          <p:cNvPr id="567" name="Google Shape;567;p27"/>
          <p:cNvPicPr preferRelativeResize="0"/>
          <p:nvPr/>
        </p:nvPicPr>
        <p:blipFill rotWithShape="1">
          <a:blip r:embed="rId3">
            <a:alphaModFix/>
          </a:blip>
          <a:srcRect/>
          <a:stretch/>
        </p:blipFill>
        <p:spPr>
          <a:xfrm>
            <a:off x="5061160" y="885761"/>
            <a:ext cx="1837765" cy="1154117"/>
          </a:xfrm>
          <a:prstGeom prst="rect">
            <a:avLst/>
          </a:prstGeom>
          <a:noFill/>
          <a:ln>
            <a:noFill/>
          </a:ln>
        </p:spPr>
      </p:pic>
      <p:sp>
        <p:nvSpPr>
          <p:cNvPr id="568" name="Google Shape;568;p27"/>
          <p:cNvSpPr txBox="1"/>
          <p:nvPr/>
        </p:nvSpPr>
        <p:spPr>
          <a:xfrm>
            <a:off x="660385" y="2905820"/>
            <a:ext cx="1063931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dirty="0">
                <a:solidFill>
                  <a:srgbClr val="2E75B5"/>
                </a:solidFill>
                <a:latin typeface="Arial"/>
                <a:ea typeface="Arial"/>
                <a:cs typeface="Arial"/>
                <a:sym typeface="Arial"/>
              </a:rPr>
              <a:t>CẢM ƠN THẦY CÔ VÀ CÁC BẠN ĐÃ LẮNG NGHE</a:t>
            </a:r>
            <a:endParaRPr sz="1800" b="0" i="0" u="none" strike="noStrike" cap="none" dirty="0">
              <a:solidFill>
                <a:srgbClr val="2E75B5"/>
              </a:solidFill>
              <a:latin typeface="Calibri"/>
              <a:ea typeface="Calibri"/>
              <a:cs typeface="Calibri"/>
              <a:sym typeface="Calibri"/>
            </a:endParaRPr>
          </a:p>
        </p:txBody>
      </p:sp>
      <p:sp>
        <p:nvSpPr>
          <p:cNvPr id="569" name="Google Shape;569;p27"/>
          <p:cNvSpPr txBox="1">
            <a:spLocks noGrp="1"/>
          </p:cNvSpPr>
          <p:nvPr>
            <p:ph type="sldNum" idx="12"/>
          </p:nvPr>
        </p:nvSpPr>
        <p:spPr>
          <a:xfrm>
            <a:off x="9372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en-US">
                <a:solidFill>
                  <a:schemeClr val="lt1"/>
                </a:solidFill>
              </a:rPr>
              <a:t>17</a:t>
            </a:fld>
            <a:endParaRPr>
              <a:solidFill>
                <a:schemeClr val="lt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397</TotalTime>
  <Words>1192</Words>
  <Application>Microsoft Office PowerPoint</Application>
  <PresentationFormat>Widescreen</PresentationFormat>
  <Paragraphs>151</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Lê Ngọc An</dc:creator>
  <cp:lastModifiedBy>Hung Duc</cp:lastModifiedBy>
  <cp:revision>19</cp:revision>
  <dcterms:created xsi:type="dcterms:W3CDTF">2024-05-01T09:13:24Z</dcterms:created>
  <dcterms:modified xsi:type="dcterms:W3CDTF">2025-07-27T09:08:19Z</dcterms:modified>
</cp:coreProperties>
</file>